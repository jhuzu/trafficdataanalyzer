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3D9"/>
    <a:srgbClr val="DDD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92"/>
  </p:normalViewPr>
  <p:slideViewPr>
    <p:cSldViewPr snapToGrid="0" snapToObjects="1">
      <p:cViewPr>
        <p:scale>
          <a:sx n="92" d="100"/>
          <a:sy n="92" d="100"/>
        </p:scale>
        <p:origin x="132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[AutoFill]</a:t>
            </a:r>
          </a:p>
          <a:p>
            <a:r>
              <a:rPr dirty="0" err="1"/>
              <a:t>本簡報以骨架模板為版型；只替換</a:t>
            </a:r>
            <a:r>
              <a:rPr dirty="0"/>
              <a:t> {{TOKEN}} </a:t>
            </a:r>
            <a:r>
              <a:rPr dirty="0" err="1"/>
              <a:t>欄位</a:t>
            </a:r>
            <a:r>
              <a:rPr dirty="0"/>
              <a:t>。</a:t>
            </a:r>
          </a:p>
          <a:p>
            <a:r>
              <a:rPr dirty="0" err="1"/>
              <a:t>圖片、地圖與圖資框保留人工更新，不由自動填值程式修改</a:t>
            </a:r>
            <a:r>
              <a:rPr dirty="0"/>
              <a:t>。</a:t>
            </a:r>
          </a:p>
          <a:p>
            <a:r>
              <a:rPr dirty="0" err="1"/>
              <a:t>數字以</a:t>
            </a:r>
            <a:r>
              <a:rPr dirty="0"/>
              <a:t> Excel </a:t>
            </a:r>
            <a:r>
              <a:rPr dirty="0" err="1"/>
              <a:t>件數欄彙總；長文字請先縮短後填入，以避免版面溢出</a:t>
            </a:r>
            <a:r>
              <a:rPr dirty="0"/>
              <a:t>。</a:t>
            </a:r>
          </a:p>
          <a:p>
            <a:r>
              <a:rPr dirty="0"/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本簡報以骨架模板為版型；只替換 {{TOKEN}} 欄位。</a:t>
            </a:r>
          </a:p>
          <a:p>
            <a:r>
              <a:t>圖片、地圖與圖資框保留人工更新，不由自動填值程式修改。</a:t>
            </a:r>
          </a:p>
          <a:p>
            <a:r>
              <a:t>數字以 Excel 件數欄彙總；長文字請先縮短後填入，以避免版面溢出。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本簡報以骨架模板為版型；只替換 {{TOKEN}} 欄位。</a:t>
            </a:r>
          </a:p>
          <a:p>
            <a:r>
              <a:t>圖片、地圖與圖資框保留人工更新，不由自動填值程式修改。</a:t>
            </a:r>
          </a:p>
          <a:p>
            <a:r>
              <a:t>數字以 Excel 件數欄彙總；長文字請先縮短後填入，以避免版面溢出。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本簡報以骨架模板為版型；只替換 {{TOKEN}} 欄位。</a:t>
            </a:r>
          </a:p>
          <a:p>
            <a:r>
              <a:t>圖片、地圖與圖資框保留人工更新，不由自動填值程式修改。</a:t>
            </a:r>
          </a:p>
          <a:p>
            <a:r>
              <a:t>數字以 Excel 件數欄彙總；長文字請先縮短後填入，以避免版面溢出。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本簡報以骨架模板為版型；只替換 {{TOKEN}} 欄位。</a:t>
            </a:r>
          </a:p>
          <a:p>
            <a:r>
              <a:t>圖片、地圖與圖資框保留人工更新，不由自動填值程式修改。</a:t>
            </a:r>
          </a:p>
          <a:p>
            <a:r>
              <a:t>數字以 Excel 件數欄彙總；長文字請先縮短後填入，以避免版面溢出。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本簡報以骨架模板為版型；只替換 {{TOKEN}} 欄位。</a:t>
            </a:r>
          </a:p>
          <a:p>
            <a:r>
              <a:t>圖片、地圖與圖資框保留人工更新，不由自動填值程式修改。</a:t>
            </a:r>
          </a:p>
          <a:p>
            <a:r>
              <a:t>數字以 Excel 件數欄彙總；長文字請先縮短後填入，以避免版面溢出。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本簡報以骨架模板為版型；只替換 {{TOKEN}} 欄位。</a:t>
            </a:r>
          </a:p>
          <a:p>
            <a:r>
              <a:t>圖片、地圖與圖資框保留人工更新，不由自動填值程式修改。</a:t>
            </a:r>
          </a:p>
          <a:p>
            <a:r>
              <a:t>數字以 Excel 件數欄彙總；長文字請先縮短後填入，以避免版面溢出。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[AutoFill]</a:t>
            </a:r>
          </a:p>
          <a:p>
            <a:r>
              <a:t>本簡報以骨架模板為版型；只替換 {{TOKEN}} 欄位。</a:t>
            </a:r>
          </a:p>
          <a:p>
            <a:r>
              <a:t>圖片、地圖與圖資框保留人工更新，不由自動填值程式修改。</a:t>
            </a:r>
          </a:p>
          <a:p>
            <a:r>
              <a:t>數字以 Excel 件數欄彙總；長文字請先縮短後填入，以避免版面溢出。</a:t>
            </a:r>
          </a:p>
          <a:p>
            <a:r>
              <a:t>[/AutoFill]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7EBA-53CF-4EA9-B51A-DFBB45DFD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31F03-F8AE-475B-8093-642D7659A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3136F-7363-4498-B672-733985CE0B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139E7-6D7D-403C-8DC6-5E98EAC256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F19BD-8B16-4692-A1C4-DC9BCEECBC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E651-439C-4EE2-8F71-3C574B9A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78FEE-94A7-4D5A-A91A-037BE8870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70AB1-A49D-4AE8-8048-687CAB3E6B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21793-D182-48BB-BEF3-162F9CED13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A1BC4-6498-4B3D-8879-C616CF0BC8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B9AE-F5AB-4EF4-BBBA-DC8B96022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268C4-5CD2-47E1-9D5D-BB57A6BF5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CD899-4857-4949-B722-88F9C795FC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D4176-2732-405F-900C-59996F5918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5E7D2-2395-405F-8486-2E18DDF38C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D08A-104C-4742-B142-4B0E5939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E7CC-4BE8-495A-929E-2CD01C6F2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3DBD1-143F-475D-9AB4-68A1D870AD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87BAC-7491-424E-9BB1-578F96A32B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3CDB7-75E6-47F4-87B5-0E1021D875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1C53D-5E86-4E43-A870-25BC036028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F215-4BE5-4408-9011-9D786317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4162B-77FC-4370-B43B-7A89C1C31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F8A25-DA4D-4DB7-AB73-75A7E0D40A5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5B30AE-1ACA-4050-BAC7-EF4944ECCEB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65D110-7E45-465E-991F-A2997AFEDBA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08F00-BD63-4B26-AB15-14D3CA7913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28C8F-5CC3-4A9A-AF39-B9BD692EFD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70546-FDDC-4A0F-BAF7-EFAC6FA52E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69549-AD87-4773-88FE-106F2ACF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60424-9ABA-4F17-B585-C7D52B29D6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F04FF-8CFE-4288-89D0-0EC20366E0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79329-CAA1-4027-9AC6-1585D5887C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CF777-9EBD-4185-B2B8-902B8090D4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A4DA-B58D-4090-83D8-37CB236468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4BE6A-A6DF-4B22-B947-8408EB11A3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4F102-EC3E-4016-8C2C-74C2A7677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C1678-BE84-49A4-8DF7-BC7885E0F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E4BFD-2806-47DF-8555-D12ECE0623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8E6D6-7423-4135-9B3D-DE72C0AE3E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415C-C310-42BC-9622-F0698B304E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C51D5-3A14-4017-92B0-6CA46D748F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D5F5-41ED-4123-8F6E-595DE417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0F050-14B3-4EC8-AAD3-2163BD1194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F3533-9EC3-4ACA-99FD-087976B9417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0FCD1-B40D-4845-B50E-2D54A020F5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B94F-DC13-4AE7-A71A-B9955EBC6E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C6669-DCE2-48C7-ACAD-0FBCD13AF9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04D9-11E8-4AD7-B4CD-7D7F5095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A9F11-85E9-43DF-9768-CAE289CE1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DE5BD-89C9-4036-B8A9-2D2889AE9A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DB21-4F18-409B-891C-F35690FE3C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39D7-2752-4C7E-8D1C-7DF674504C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6D95E1-58AB-4540-BF7E-B7AC2A22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D2F97-B9F6-4637-BAA1-46D8E02F4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62350-A881-4B7B-83CD-D990C8944C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FB863-449E-44FB-AF19-AC8915F67A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B88E9-846F-467D-9ADA-D45966224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142D0-88BF-4365-B034-FF3294B4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54518-93AF-49C8-8E2E-874B39FDA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A9929-65BC-46C9-A198-6B1F2BEB0B2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2026/8/10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8068D-652D-46A4-94C7-CCB81F8388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CE9C6-B858-4D66-B59A-F585B23C319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6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6.png"/><Relationship Id="rId21" Type="http://schemas.openxmlformats.org/officeDocument/2006/relationships/image" Target="../media/image37.png"/><Relationship Id="rId7" Type="http://schemas.openxmlformats.org/officeDocument/2006/relationships/image" Target="../media/image40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5" Type="http://schemas.openxmlformats.org/officeDocument/2006/relationships/image" Target="../media/image31.png"/><Relationship Id="rId10" Type="http://schemas.openxmlformats.org/officeDocument/2006/relationships/image" Target="../media/image41.png"/><Relationship Id="rId19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6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7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.png"/><Relationship Id="rId7" Type="http://schemas.openxmlformats.org/officeDocument/2006/relationships/image" Target="../media/image46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68.png"/><Relationship Id="rId5" Type="http://schemas.openxmlformats.org/officeDocument/2006/relationships/image" Target="../media/image64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7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6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905351"/>
            <a:ext cx="11049000" cy="381000"/>
          </a:xfrm>
          <a:prstGeom prst="rect">
            <a:avLst/>
          </a:prstGeom>
        </p:spPr>
      </p:pic>
      <p:pic>
        <p:nvPicPr>
          <p:cNvPr id="28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1500"/>
            <a:ext cx="2447032" cy="333375"/>
          </a:xfrm>
          <a:prstGeom prst="rect">
            <a:avLst/>
          </a:prstGeom>
        </p:spPr>
      </p:pic>
      <p:pic>
        <p:nvPicPr>
          <p:cNvPr id="29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0932" y="571500"/>
            <a:ext cx="1883954" cy="333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09846C-F720-4F7F-A22E-F2D9B560910A}"/>
              </a:ext>
            </a:extLst>
          </p:cNvPr>
          <p:cNvSpPr>
            <a:spLocks noGrp="1"/>
          </p:cNvSpPr>
          <p:nvPr/>
        </p:nvSpPr>
        <p:spPr>
          <a:xfrm>
            <a:off x="571500" y="2777132"/>
            <a:ext cx="11601450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40"/>
              </a:lnSpc>
              <a:buNone/>
            </a:pPr>
            <a:r>
              <a:rPr sz="4200" b="0" i="0" u="none" dirty="0" err="1">
                <a:solidFill>
                  <a:srgbClr val="FFFFFF"/>
                </a:solidFill>
                <a:latin typeface="BiauKaiTC Regular" panose="03000500000000000000" pitchFamily="66" charset="-120"/>
                <a:ea typeface="BiauKaiTC Regular" panose="03000500000000000000" pitchFamily="66" charset="-120"/>
                <a:cs typeface="Noto Sans TC Black"/>
              </a:rPr>
              <a:t>轄區交通事故分析</a:t>
            </a:r>
            <a:br>
              <a:rPr dirty="0">
                <a:latin typeface="BiauKaiTC Regular" panose="03000500000000000000" pitchFamily="66" charset="-120"/>
                <a:ea typeface="BiauKaiTC Regular" panose="03000500000000000000" pitchFamily="66" charset="-120"/>
              </a:rPr>
            </a:br>
            <a:r>
              <a:rPr sz="4200" b="0" i="0" u="none" dirty="0">
                <a:solidFill>
                  <a:srgbClr val="FFFFFF"/>
                </a:solidFill>
                <a:latin typeface="BiauKaiTC Regular" panose="03000500000000000000" pitchFamily="66" charset="-120"/>
                <a:ea typeface="BiauKaiTC Regular" panose="03000500000000000000" pitchFamily="66" charset="-120"/>
                <a:cs typeface="Noto Sans TC Black"/>
              </a:rPr>
              <a:t> &amp; </a:t>
            </a:r>
            <a:r>
              <a:rPr sz="4200" b="0" i="0" u="none" dirty="0" err="1">
                <a:solidFill>
                  <a:srgbClr val="FFFFFF"/>
                </a:solidFill>
                <a:latin typeface="BiauKaiTC Regular" panose="03000500000000000000" pitchFamily="66" charset="-120"/>
                <a:ea typeface="BiauKaiTC Regular" panose="03000500000000000000" pitchFamily="66" charset="-120"/>
                <a:cs typeface="Noto Sans TC Black"/>
              </a:rPr>
              <a:t>防制策略週報模板</a:t>
            </a:r>
            <a:endParaRPr sz="4200" b="0" i="0" u="none" dirty="0">
              <a:solidFill>
                <a:srgbClr val="FFFFFF"/>
              </a:solidFill>
              <a:latin typeface="BiauKaiTC Regular" panose="03000500000000000000" pitchFamily="66" charset="-120"/>
              <a:ea typeface="BiauKaiTC Regular" panose="03000500000000000000" pitchFamily="66" charset="-120"/>
              <a:cs typeface="Noto Sans TC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AB99FD-9071-4E78-9052-471CBCE3DADD}"/>
              </a:ext>
            </a:extLst>
          </p:cNvPr>
          <p:cNvSpPr>
            <a:spLocks noGrp="1"/>
          </p:cNvSpPr>
          <p:nvPr/>
        </p:nvSpPr>
        <p:spPr>
          <a:xfrm>
            <a:off x="571500" y="4247554"/>
            <a:ext cx="11049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TW" altLang="en-US" dirty="0">
                <a:solidFill>
                  <a:srgbClr val="93C5FD"/>
                </a:solidFill>
                <a:latin typeface="BiauKaiTC Regular" panose="03000500000000000000" pitchFamily="66" charset="-120"/>
                <a:ea typeface="BiauKaiTC Regular" panose="03000500000000000000" pitchFamily="66" charset="-120"/>
                <a:cs typeface="Noto Sans TC"/>
              </a:rPr>
              <a:t>（副標題）</a:t>
            </a:r>
            <a:endParaRPr sz="1800" b="0" i="0" u="none" dirty="0">
              <a:solidFill>
                <a:srgbClr val="93C5FD"/>
              </a:solidFill>
              <a:latin typeface="BiauKaiTC Regular" panose="03000500000000000000" pitchFamily="66" charset="-120"/>
              <a:ea typeface="BiauKaiTC Regular" panose="03000500000000000000" pitchFamily="66" charset="-120"/>
              <a:cs typeface="Noto Sans T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9BEA6-0499-499B-9A5F-0CD213853C5B}"/>
              </a:ext>
            </a:extLst>
          </p:cNvPr>
          <p:cNvSpPr>
            <a:spLocks noGrp="1"/>
          </p:cNvSpPr>
          <p:nvPr/>
        </p:nvSpPr>
        <p:spPr>
          <a:xfrm>
            <a:off x="682674" y="6105376"/>
            <a:ext cx="1984474" cy="173124"/>
          </a:xfrm>
          <a:prstGeom prst="rect">
            <a:avLst/>
          </a:prstGeom>
          <a:noFill/>
        </p:spPr>
        <p:txBody>
          <a:bodyPr wrap="square" lIns="111174" tIns="0" rIns="0" bIns="0" anchor="t">
            <a:spAutoFit/>
          </a:bodyPr>
          <a:lstStyle/>
          <a:p>
            <a:pPr algn="l">
              <a:buNone/>
            </a:pPr>
            <a:r>
              <a:rPr sz="1125" b="0" i="0" u="none" dirty="0" err="1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製報單位</a:t>
            </a:r>
            <a:endParaRPr sz="1125" b="0" i="0" u="none" dirty="0">
              <a:solidFill>
                <a:srgbClr val="CBD5E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62099-A8D0-40C9-89D7-4566951D84C7}"/>
              </a:ext>
            </a:extLst>
          </p:cNvPr>
          <p:cNvSpPr>
            <a:spLocks noGrp="1"/>
          </p:cNvSpPr>
          <p:nvPr/>
        </p:nvSpPr>
        <p:spPr>
          <a:xfrm>
            <a:off x="9445376" y="6105376"/>
            <a:ext cx="2175123" cy="180975"/>
          </a:xfrm>
          <a:prstGeom prst="rect">
            <a:avLst/>
          </a:prstGeom>
          <a:noFill/>
        </p:spPr>
        <p:txBody>
          <a:bodyPr wrap="square" lIns="111174" tIns="0" rIns="0" bIns="0" anchor="t">
            <a:spAutoFit/>
          </a:bodyPr>
          <a:lstStyle/>
          <a:p>
            <a:pPr algn="l">
              <a:buNone/>
            </a:pPr>
            <a:r>
              <a:rPr sz="1125" b="0" i="0" u="none" dirty="0" err="1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自動化生成與數據替代格式</a:t>
            </a:r>
            <a:r>
              <a:rPr sz="1125" b="0" i="0" u="none" dirty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 v2.0</a:t>
            </a:r>
          </a:p>
        </p:txBody>
      </p:sp>
      <p:pic>
        <p:nvPicPr>
          <p:cNvPr id="38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124426"/>
            <a:ext cx="111174" cy="142875"/>
          </a:xfrm>
          <a:prstGeom prst="rect">
            <a:avLst/>
          </a:prstGeom>
        </p:spPr>
      </p:pic>
      <p:pic>
        <p:nvPicPr>
          <p:cNvPr id="39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376" y="6124426"/>
            <a:ext cx="111174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86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160117-8EC5-EA66-52CD-18856656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70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83085"/>
            <a:ext cx="5505450" cy="3408164"/>
          </a:xfrm>
          <a:prstGeom prst="rect">
            <a:avLst/>
          </a:prstGeom>
        </p:spPr>
      </p:pic>
      <p:pic>
        <p:nvPicPr>
          <p:cNvPr id="71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62050"/>
            <a:ext cx="5505450" cy="5029200"/>
          </a:xfrm>
          <a:prstGeom prst="rect">
            <a:avLst/>
          </a:prstGeom>
        </p:spPr>
      </p:pic>
      <p:pic>
        <p:nvPicPr>
          <p:cNvPr id="72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1162050"/>
            <a:ext cx="1733550" cy="1316235"/>
          </a:xfrm>
          <a:prstGeom prst="rect">
            <a:avLst/>
          </a:prstGeom>
        </p:spPr>
      </p:pic>
      <p:pic>
        <p:nvPicPr>
          <p:cNvPr id="73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2200" y="1162050"/>
            <a:ext cx="1733550" cy="1316235"/>
          </a:xfrm>
          <a:prstGeom prst="rect">
            <a:avLst/>
          </a:prstGeom>
        </p:spPr>
      </p:pic>
      <p:pic>
        <p:nvPicPr>
          <p:cNvPr id="74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8150" y="1162050"/>
            <a:ext cx="1733550" cy="1316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CB03D9-8B5A-4EC9-8B8B-DFFE628D9E2A}"/>
              </a:ext>
            </a:extLst>
          </p:cNvPr>
          <p:cNvSpPr>
            <a:spLocks noGrp="1"/>
          </p:cNvSpPr>
          <p:nvPr/>
        </p:nvSpPr>
        <p:spPr>
          <a:xfrm>
            <a:off x="798016" y="381000"/>
            <a:ext cx="32004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400" b="1" i="0" u="none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一、交通事故總體分析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F2C04-9D2B-47C8-A906-8350C1AEF84A}"/>
              </a:ext>
            </a:extLst>
          </p:cNvPr>
          <p:cNvSpPr>
            <a:spLocks noGrp="1"/>
          </p:cNvSpPr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板橋分局交通安全週報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4ADA3-7528-4456-92DD-A0563E643B62}"/>
              </a:ext>
            </a:extLst>
          </p:cNvPr>
          <p:cNvSpPr>
            <a:spLocks noGrp="1"/>
          </p:cNvSpPr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第 2 頁 / 共 8 頁</a:t>
            </a:r>
          </a:p>
        </p:txBody>
      </p:sp>
      <p:pic>
        <p:nvPicPr>
          <p:cNvPr id="78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F89A04-8D0A-4B21-A759-E6D0B58D16FE}"/>
              </a:ext>
            </a:extLst>
          </p:cNvPr>
          <p:cNvSpPr>
            <a:spLocks noGrp="1"/>
          </p:cNvSpPr>
          <p:nvPr/>
        </p:nvSpPr>
        <p:spPr>
          <a:xfrm>
            <a:off x="10765349" y="514180"/>
            <a:ext cx="1094152" cy="161583"/>
          </a:xfrm>
          <a:prstGeom prst="rect">
            <a:avLst/>
          </a:prstGeom>
          <a:solidFill>
            <a:srgbClr val="FEF3C7"/>
          </a:solidFill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1" i="0" u="none" dirty="0">
                <a:solidFill>
                  <a:srgbClr val="92400E"/>
                </a:solidFill>
                <a:latin typeface="Noto Sans TC"/>
                <a:ea typeface="Noto Sans TC"/>
                <a:cs typeface="Noto Sans TC"/>
              </a:rPr>
              <a:t>{{PERIOD_SHORT}}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4D2F08-3CFE-4994-B374-2C43D794D7EC}"/>
              </a:ext>
            </a:extLst>
          </p:cNvPr>
          <p:cNvSpPr>
            <a:spLocks noGrp="1"/>
          </p:cNvSpPr>
          <p:nvPr/>
        </p:nvSpPr>
        <p:spPr>
          <a:xfrm>
            <a:off x="885973" y="2998298"/>
            <a:ext cx="4895701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 dirty="0" err="1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本期防制研判與重點摘要</a:t>
            </a:r>
            <a:r>
              <a:rPr lang="zh-TW" altLang="en-US" sz="1350" b="1" i="0" u="none" dirty="0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（這邊建議人工輸入會另外給資料</a:t>
            </a:r>
            <a:r>
              <a:rPr lang="en-US" altLang="zh-TW" sz="1350" b="1" i="0" u="none" dirty="0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fill</a:t>
            </a:r>
            <a:r>
              <a:rPr lang="zh-TW" altLang="en-US" sz="1350" b="1" i="0" u="none" dirty="0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）</a:t>
            </a:r>
            <a:endParaRPr sz="1350" b="1" i="0" u="none" dirty="0">
              <a:solidFill>
                <a:srgbClr val="1E3A8A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7F2A89-0B67-409C-9F18-0C338D3BC0AD}"/>
              </a:ext>
            </a:extLst>
          </p:cNvPr>
          <p:cNvSpPr>
            <a:spLocks noGrp="1"/>
          </p:cNvSpPr>
          <p:nvPr/>
        </p:nvSpPr>
        <p:spPr>
          <a:xfrm>
            <a:off x="676275" y="3287910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E67C76-2DDD-47EB-B7B8-469DE43C714F}"/>
              </a:ext>
            </a:extLst>
          </p:cNvPr>
          <p:cNvSpPr>
            <a:spLocks noGrp="1"/>
          </p:cNvSpPr>
          <p:nvPr/>
        </p:nvSpPr>
        <p:spPr>
          <a:xfrm>
            <a:off x="638175" y="1323975"/>
            <a:ext cx="1409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50" b="0" i="0" u="none" dirty="0">
                <a:solidFill>
                  <a:srgbClr val="64748B"/>
                </a:solidFill>
                <a:latin typeface="Noto Sans TC Medium"/>
                <a:ea typeface="Noto Sans TC Medium"/>
                <a:cs typeface="Noto Sans TC Medium"/>
              </a:rPr>
              <a:t>A1+A2事故總件數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88017-124E-4E16-97C7-74F67BE8E57C}"/>
              </a:ext>
            </a:extLst>
          </p:cNvPr>
          <p:cNvSpPr>
            <a:spLocks noGrp="1"/>
          </p:cNvSpPr>
          <p:nvPr/>
        </p:nvSpPr>
        <p:spPr>
          <a:xfrm>
            <a:off x="638175" y="1944885"/>
            <a:ext cx="1409700" cy="314325"/>
          </a:xfrm>
          <a:prstGeom prst="rect">
            <a:avLst/>
          </a:prstGeom>
          <a:noFill/>
        </p:spPr>
        <p:txBody>
          <a:bodyPr wrap="square" lIns="96440" tIns="0" rIns="0" bIns="0" anchor="t">
            <a:spAutoFit/>
          </a:bodyPr>
          <a:lstStyle/>
          <a:p>
            <a:pPr algn="ctr">
              <a:buNone/>
            </a:pPr>
            <a:r>
              <a:rPr sz="975" b="1" i="0" u="none" dirty="0" err="1">
                <a:solidFill>
                  <a:srgbClr val="166534"/>
                </a:solidFill>
                <a:latin typeface="Noto Sans TC"/>
                <a:ea typeface="Noto Sans TC"/>
                <a:cs typeface="Noto Sans TC"/>
              </a:rPr>
              <a:t>同期變化</a:t>
            </a:r>
            <a:r>
              <a:rPr sz="975" b="1" i="0" u="none" dirty="0">
                <a:solidFill>
                  <a:srgbClr val="166534"/>
                </a:solidFill>
                <a:latin typeface="Noto Sans TC"/>
                <a:ea typeface="Noto Sans TC"/>
                <a:cs typeface="Noto Sans TC"/>
              </a:rPr>
              <a:t>：{{TD}}</a:t>
            </a:r>
            <a:r>
              <a:rPr sz="975" b="1" i="0" u="none" dirty="0" err="1">
                <a:solidFill>
                  <a:srgbClr val="166534"/>
                </a:solidFill>
                <a:latin typeface="Noto Sans TC"/>
                <a:ea typeface="Noto Sans TC"/>
                <a:cs typeface="Noto Sans TC"/>
              </a:rPr>
              <a:t>件</a:t>
            </a:r>
            <a:r>
              <a:rPr sz="975" b="1" i="0" u="none" dirty="0">
                <a:solidFill>
                  <a:srgbClr val="166534"/>
                </a:solidFill>
                <a:latin typeface="Noto Sans TC"/>
                <a:ea typeface="Noto Sans TC"/>
                <a:cs typeface="Noto Sans TC"/>
              </a:rPr>
              <a:t>（{{TR}}）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2BC0A7-44C6-46DD-AF7C-378DCA8EE064}"/>
              </a:ext>
            </a:extLst>
          </p:cNvPr>
          <p:cNvSpPr>
            <a:spLocks noGrp="1"/>
          </p:cNvSpPr>
          <p:nvPr/>
        </p:nvSpPr>
        <p:spPr>
          <a:xfrm>
            <a:off x="2524125" y="1352550"/>
            <a:ext cx="1409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50" b="0" i="0" u="none">
                <a:solidFill>
                  <a:srgbClr val="64748B"/>
                </a:solidFill>
                <a:latin typeface="Noto Sans TC Medium"/>
                <a:ea typeface="Noto Sans TC Medium"/>
                <a:cs typeface="Noto Sans TC Medium"/>
              </a:rPr>
              <a:t>A1 類事故 (致命)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D88E7D-19A1-4DC6-B8EB-65A415609F96}"/>
              </a:ext>
            </a:extLst>
          </p:cNvPr>
          <p:cNvSpPr>
            <a:spLocks noGrp="1"/>
          </p:cNvSpPr>
          <p:nvPr/>
        </p:nvSpPr>
        <p:spPr>
          <a:xfrm>
            <a:off x="2524125" y="1581150"/>
            <a:ext cx="14097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  <a:buNone/>
            </a:pPr>
            <a:r>
              <a:rPr sz="2400" b="0" i="0" u="none" dirty="0">
                <a:solidFill>
                  <a:srgbClr val="EF4444"/>
                </a:solidFill>
                <a:latin typeface="Poppins Black"/>
                <a:ea typeface="Poppins Black"/>
                <a:cs typeface="Poppins Black"/>
              </a:rPr>
              <a:t>{{A1}}</a:t>
            </a:r>
            <a:r>
              <a:rPr sz="2400" b="0" i="0" u="none" dirty="0" err="1">
                <a:solidFill>
                  <a:srgbClr val="EF4444"/>
                </a:solidFill>
                <a:latin typeface="Poppins Black"/>
                <a:ea typeface="Poppins Black"/>
                <a:cs typeface="Poppins Black"/>
              </a:rPr>
              <a:t>件</a:t>
            </a:r>
            <a:endParaRPr sz="2400" b="0" i="0" u="none" dirty="0">
              <a:solidFill>
                <a:srgbClr val="EF4444"/>
              </a:solidFill>
              <a:latin typeface="Poppins Black"/>
              <a:ea typeface="Poppins Black"/>
              <a:cs typeface="Poppins Black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07D75C-F905-4D1A-B908-389427ED05CD}"/>
              </a:ext>
            </a:extLst>
          </p:cNvPr>
          <p:cNvSpPr>
            <a:spLocks noGrp="1"/>
          </p:cNvSpPr>
          <p:nvPr/>
        </p:nvSpPr>
        <p:spPr>
          <a:xfrm>
            <a:off x="2524125" y="1973460"/>
            <a:ext cx="1409700" cy="342900"/>
          </a:xfrm>
          <a:prstGeom prst="rect">
            <a:avLst/>
          </a:prstGeom>
          <a:noFill/>
        </p:spPr>
        <p:txBody>
          <a:bodyPr wrap="square" lIns="96440" tIns="0" rIns="0" bIns="0" anchor="t">
            <a:spAutoFit/>
          </a:bodyPr>
          <a:lstStyle/>
          <a:p>
            <a:pPr algn="ctr">
              <a:buNone/>
            </a:pPr>
            <a:r>
              <a:rPr sz="975" b="1" i="0" u="none">
                <a:solidFill>
                  <a:srgbClr val="991B1B"/>
                </a:solidFill>
                <a:latin typeface="Noto Sans TC"/>
                <a:ea typeface="Noto Sans TC"/>
                <a:cs typeface="Noto Sans TC"/>
              </a:rPr>
              <a:t>同期變化：{{A1D}}件（{{A1R}}）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DF742-DB72-40C3-8EDC-2AAB2155EBCD}"/>
              </a:ext>
            </a:extLst>
          </p:cNvPr>
          <p:cNvSpPr>
            <a:spLocks noGrp="1"/>
          </p:cNvSpPr>
          <p:nvPr/>
        </p:nvSpPr>
        <p:spPr>
          <a:xfrm>
            <a:off x="4410075" y="1323975"/>
            <a:ext cx="1409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50" b="0" i="0" u="none">
                <a:solidFill>
                  <a:srgbClr val="64748B"/>
                </a:solidFill>
                <a:latin typeface="Noto Sans TC Medium"/>
                <a:ea typeface="Noto Sans TC Medium"/>
                <a:cs typeface="Noto Sans TC Medium"/>
              </a:rPr>
              <a:t>A2 類事故 (受傷)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D48B89-A71B-4EC4-918F-9E7D7D5D985D}"/>
              </a:ext>
            </a:extLst>
          </p:cNvPr>
          <p:cNvSpPr>
            <a:spLocks noGrp="1"/>
          </p:cNvSpPr>
          <p:nvPr/>
        </p:nvSpPr>
        <p:spPr>
          <a:xfrm>
            <a:off x="4410075" y="1552575"/>
            <a:ext cx="14097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  <a:buNone/>
            </a:pPr>
            <a:r>
              <a:rPr sz="2400" b="0" i="0" u="none">
                <a:solidFill>
                  <a:srgbClr val="0F172A"/>
                </a:solidFill>
                <a:latin typeface="Poppins Black"/>
                <a:ea typeface="Poppins Black"/>
                <a:cs typeface="Poppins Black"/>
              </a:rPr>
              <a:t>{{A2}}件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D4CBD9-8D41-4854-A7C8-D6C4D3042C68}"/>
              </a:ext>
            </a:extLst>
          </p:cNvPr>
          <p:cNvSpPr>
            <a:spLocks noGrp="1"/>
          </p:cNvSpPr>
          <p:nvPr/>
        </p:nvSpPr>
        <p:spPr>
          <a:xfrm>
            <a:off x="4410075" y="1944885"/>
            <a:ext cx="1409700" cy="314325"/>
          </a:xfrm>
          <a:prstGeom prst="rect">
            <a:avLst/>
          </a:prstGeom>
          <a:noFill/>
        </p:spPr>
        <p:txBody>
          <a:bodyPr wrap="square" lIns="96440" tIns="0" rIns="0" bIns="0" anchor="t">
            <a:spAutoFit/>
          </a:bodyPr>
          <a:lstStyle/>
          <a:p>
            <a:pPr algn="ctr">
              <a:buNone/>
            </a:pPr>
            <a:r>
              <a:rPr sz="975" b="1" i="0" u="none" dirty="0" err="1">
                <a:solidFill>
                  <a:srgbClr val="166534"/>
                </a:solidFill>
                <a:latin typeface="Noto Sans TC"/>
                <a:ea typeface="Noto Sans TC"/>
                <a:cs typeface="Noto Sans TC"/>
              </a:rPr>
              <a:t>同期變化</a:t>
            </a:r>
            <a:r>
              <a:rPr sz="975" b="1" i="0" u="none" dirty="0">
                <a:solidFill>
                  <a:srgbClr val="166534"/>
                </a:solidFill>
                <a:latin typeface="Noto Sans TC"/>
                <a:ea typeface="Noto Sans TC"/>
                <a:cs typeface="Noto Sans TC"/>
              </a:rPr>
              <a:t>：{{A2D}}</a:t>
            </a:r>
            <a:r>
              <a:rPr sz="975" b="1" i="0" u="none" dirty="0" err="1">
                <a:solidFill>
                  <a:srgbClr val="166534"/>
                </a:solidFill>
                <a:latin typeface="Noto Sans TC"/>
                <a:ea typeface="Noto Sans TC"/>
                <a:cs typeface="Noto Sans TC"/>
              </a:rPr>
              <a:t>件</a:t>
            </a:r>
            <a:r>
              <a:rPr sz="975" b="1" i="0" u="none" dirty="0">
                <a:solidFill>
                  <a:srgbClr val="166534"/>
                </a:solidFill>
                <a:latin typeface="Noto Sans TC"/>
                <a:ea typeface="Noto Sans TC"/>
                <a:cs typeface="Noto Sans TC"/>
              </a:rPr>
              <a:t>（{{A2R}}）</a:t>
            </a:r>
          </a:p>
        </p:txBody>
      </p:sp>
      <p:pic>
        <p:nvPicPr>
          <p:cNvPr id="92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3011685"/>
            <a:ext cx="133498" cy="1714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40688AE-E346-4B5B-9619-01927E16FAA6}"/>
              </a:ext>
            </a:extLst>
          </p:cNvPr>
          <p:cNvSpPr>
            <a:spLocks noGrp="1"/>
          </p:cNvSpPr>
          <p:nvPr/>
        </p:nvSpPr>
        <p:spPr>
          <a:xfrm>
            <a:off x="819150" y="3409354"/>
            <a:ext cx="476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25" b="0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B5BF36-2419-4CBE-8C13-F10F58F950D4}"/>
              </a:ext>
            </a:extLst>
          </p:cNvPr>
          <p:cNvSpPr>
            <a:spLocks noGrp="1"/>
          </p:cNvSpPr>
          <p:nvPr/>
        </p:nvSpPr>
        <p:spPr>
          <a:xfrm>
            <a:off x="866775" y="3411735"/>
            <a:ext cx="4914900" cy="48577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912"/>
              </a:lnSpc>
              <a:buNone/>
            </a:pPr>
            <a:r>
              <a:rPr sz="112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整體狀況：{{SUMMARY}}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ECE2BC-3E08-4F89-81A3-465D070CE736}"/>
              </a:ext>
            </a:extLst>
          </p:cNvPr>
          <p:cNvSpPr>
            <a:spLocks noGrp="1"/>
          </p:cNvSpPr>
          <p:nvPr/>
        </p:nvSpPr>
        <p:spPr>
          <a:xfrm>
            <a:off x="819150" y="3990379"/>
            <a:ext cx="476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25" b="0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BC1A52-59D8-4633-8D66-273C7F910F45}"/>
              </a:ext>
            </a:extLst>
          </p:cNvPr>
          <p:cNvSpPr>
            <a:spLocks noGrp="1"/>
          </p:cNvSpPr>
          <p:nvPr/>
        </p:nvSpPr>
        <p:spPr>
          <a:xfrm>
            <a:off x="866775" y="3992760"/>
            <a:ext cx="4914900" cy="48577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912"/>
              </a:lnSpc>
              <a:buNone/>
            </a:pPr>
            <a:r>
              <a:rPr sz="112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核心防制重點：{{FOCUS}}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6313CB-12BE-4C15-80D6-37C492265F5E}"/>
              </a:ext>
            </a:extLst>
          </p:cNvPr>
          <p:cNvSpPr>
            <a:spLocks noGrp="1"/>
          </p:cNvSpPr>
          <p:nvPr/>
        </p:nvSpPr>
        <p:spPr>
          <a:xfrm>
            <a:off x="819150" y="4571404"/>
            <a:ext cx="476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25" b="0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3A8450-0B57-4BC6-A69D-207983BAD664}"/>
              </a:ext>
            </a:extLst>
          </p:cNvPr>
          <p:cNvSpPr>
            <a:spLocks noGrp="1"/>
          </p:cNvSpPr>
          <p:nvPr/>
        </p:nvSpPr>
        <p:spPr>
          <a:xfrm>
            <a:off x="866775" y="4573785"/>
            <a:ext cx="4914900" cy="242887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912"/>
              </a:lnSpc>
              <a:buNone/>
            </a:pPr>
            <a:r>
              <a:rPr sz="112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防制方向：{{DIRECTION}}</a:t>
            </a:r>
          </a:p>
        </p:txBody>
      </p:sp>
      <p:pic>
        <p:nvPicPr>
          <p:cNvPr id="99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0401" y="1352550"/>
            <a:ext cx="88999" cy="114300"/>
          </a:xfrm>
          <a:prstGeom prst="rect">
            <a:avLst/>
          </a:prstGeom>
        </p:spPr>
      </p:pic>
      <p:pic>
        <p:nvPicPr>
          <p:cNvPr id="100" name="Picture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5175" y="3224212"/>
            <a:ext cx="355699" cy="4572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79919A5-DDC2-413E-AF1E-3E2E1DD422A2}"/>
              </a:ext>
            </a:extLst>
          </p:cNvPr>
          <p:cNvSpPr>
            <a:spLocks noGrp="1"/>
          </p:cNvSpPr>
          <p:nvPr/>
        </p:nvSpPr>
        <p:spPr>
          <a:xfrm>
            <a:off x="8096250" y="3776662"/>
            <a:ext cx="1733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50" b="1" i="0" u="none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每週可直接替換點位地圖截圖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8EB961-9C00-4AE9-BC23-E8E3941AA9ED}"/>
              </a:ext>
            </a:extLst>
          </p:cNvPr>
          <p:cNvSpPr>
            <a:spLocks noGrp="1"/>
          </p:cNvSpPr>
          <p:nvPr/>
        </p:nvSpPr>
        <p:spPr>
          <a:xfrm>
            <a:off x="8308776" y="3976687"/>
            <a:ext cx="13084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建議比例 16:9 或 4:3 畫面</a:t>
            </a:r>
          </a:p>
        </p:txBody>
      </p:sp>
      <p:pic>
        <p:nvPicPr>
          <p:cNvPr id="104" name="Picture 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716" y="1958340"/>
            <a:ext cx="96440" cy="123825"/>
          </a:xfrm>
          <a:prstGeom prst="rect">
            <a:avLst/>
          </a:prstGeom>
        </p:spPr>
      </p:pic>
      <p:pic>
        <p:nvPicPr>
          <p:cNvPr id="108" name="Picture 4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30376" y="1997273"/>
            <a:ext cx="96440" cy="123825"/>
          </a:xfrm>
          <a:prstGeom prst="rect">
            <a:avLst/>
          </a:prstGeom>
        </p:spPr>
      </p:pic>
      <p:pic>
        <p:nvPicPr>
          <p:cNvPr id="112" name="Picture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5477" y="1966442"/>
            <a:ext cx="96440" cy="123825"/>
          </a:xfrm>
          <a:prstGeom prst="rect">
            <a:avLst/>
          </a:prstGeom>
        </p:spPr>
      </p:pic>
      <p:pic>
        <p:nvPicPr>
          <p:cNvPr id="120" name="Picture 5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85151" y="1295400"/>
            <a:ext cx="1797248" cy="2381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C89755F-CDE7-6A8B-EC1C-E22DCF19FA9E}"/>
              </a:ext>
            </a:extLst>
          </p:cNvPr>
          <p:cNvSpPr txBox="1"/>
          <p:nvPr/>
        </p:nvSpPr>
        <p:spPr>
          <a:xfrm>
            <a:off x="453567" y="1504926"/>
            <a:ext cx="1778915" cy="415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</a:pPr>
            <a:r>
              <a:rPr lang="en" altLang="zh-TW" sz="2000" dirty="0">
                <a:solidFill>
                  <a:schemeClr val="tx2">
                    <a:lumMod val="75000"/>
                  </a:schemeClr>
                </a:solidFill>
                <a:latin typeface="Poppins Black"/>
                <a:cs typeface="Poppins Black"/>
              </a:rPr>
              <a:t>{{TOTAL}}</a:t>
            </a:r>
            <a:r>
              <a:rPr lang="zh-TW" altLang="en-US" sz="2000" dirty="0">
                <a:solidFill>
                  <a:schemeClr val="tx2">
                    <a:lumMod val="75000"/>
                  </a:schemeClr>
                </a:solidFill>
                <a:latin typeface="Poppins Black"/>
                <a:cs typeface="Poppins Black"/>
              </a:rPr>
              <a:t>件</a:t>
            </a:r>
          </a:p>
        </p:txBody>
      </p:sp>
    </p:spTree>
    <p:extLst>
      <p:ext uri="{BB962C8B-B14F-4D97-AF65-F5344CB8AC3E}">
        <p14:creationId xmlns:p14="http://schemas.microsoft.com/office/powerpoint/2010/main" val="130153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0ED3D44D-3532-0AA1-31B6-C87E5D3D4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1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102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8735" y="457200"/>
            <a:ext cx="1357014" cy="266700"/>
          </a:xfrm>
          <a:prstGeom prst="rect">
            <a:avLst/>
          </a:prstGeom>
        </p:spPr>
      </p:pic>
      <p:pic>
        <p:nvPicPr>
          <p:cNvPr id="103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62050"/>
            <a:ext cx="6055965" cy="5114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45E809-883C-4842-A3F1-2C11FEACD326}"/>
              </a:ext>
            </a:extLst>
          </p:cNvPr>
          <p:cNvSpPr>
            <a:spLocks noGrp="1"/>
          </p:cNvSpPr>
          <p:nvPr/>
        </p:nvSpPr>
        <p:spPr>
          <a:xfrm>
            <a:off x="798016" y="381000"/>
            <a:ext cx="4190054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400" b="1" i="0" u="none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二、易肇事路段分析 (Top 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A4CA4-93C7-424E-93CA-26C314B53E19}"/>
              </a:ext>
            </a:extLst>
          </p:cNvPr>
          <p:cNvSpPr>
            <a:spLocks noGrp="1"/>
          </p:cNvSpPr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板橋分局交通安全週報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9CB9E-3E3E-4E9B-B14F-CB8CAEA74E0B}"/>
              </a:ext>
            </a:extLst>
          </p:cNvPr>
          <p:cNvSpPr>
            <a:spLocks noGrp="1"/>
          </p:cNvSpPr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 dirty="0" err="1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第</a:t>
            </a:r>
            <a:r>
              <a:rPr sz="900" b="0" i="0" u="none" dirty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3 </a:t>
            </a:r>
            <a:r>
              <a:rPr sz="900" b="0" i="0" u="none" dirty="0" err="1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頁</a:t>
            </a:r>
            <a:r>
              <a:rPr sz="900" b="0" i="0" u="none" dirty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/ </a:t>
            </a:r>
            <a:r>
              <a:rPr sz="900" b="0" i="0" u="none" dirty="0" err="1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共</a:t>
            </a:r>
            <a:r>
              <a:rPr sz="900" b="0" i="0" u="none" dirty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8 </a:t>
            </a:r>
            <a:r>
              <a:rPr sz="900" b="0" i="0" u="none" dirty="0" err="1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頁</a:t>
            </a:r>
            <a:endParaRPr sz="900" b="0" i="0" u="none" dirty="0">
              <a:solidFill>
                <a:srgbClr val="94A3B8"/>
              </a:solidFill>
              <a:latin typeface="Noto Sans TC"/>
              <a:ea typeface="Noto Sans TC"/>
              <a:cs typeface="Noto Sans TC"/>
            </a:endParaRPr>
          </a:p>
        </p:txBody>
      </p:sp>
      <p:pic>
        <p:nvPicPr>
          <p:cNvPr id="108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10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815" y="1162050"/>
            <a:ext cx="4954934" cy="5114925"/>
          </a:xfrm>
          <a:prstGeom prst="rect">
            <a:avLst/>
          </a:prstGeom>
        </p:spPr>
      </p:pic>
      <p:pic>
        <p:nvPicPr>
          <p:cNvPr id="111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9865" y="1181100"/>
            <a:ext cx="4916834" cy="50768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405670-4B62-4427-859D-C8624C4210BE}"/>
              </a:ext>
            </a:extLst>
          </p:cNvPr>
          <p:cNvSpPr>
            <a:spLocks noGrp="1"/>
          </p:cNvSpPr>
          <p:nvPr/>
        </p:nvSpPr>
        <p:spPr>
          <a:xfrm>
            <a:off x="885973" y="1362075"/>
            <a:ext cx="544621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 dirty="0" err="1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易肇事路段排名與件數</a:t>
            </a:r>
            <a:endParaRPr sz="1350" b="1" i="0" u="none" dirty="0">
              <a:solidFill>
                <a:srgbClr val="1E3A8A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167674-B4BB-4439-89D7-18EB8B063907}"/>
              </a:ext>
            </a:extLst>
          </p:cNvPr>
          <p:cNvSpPr>
            <a:spLocks noGrp="1"/>
          </p:cNvSpPr>
          <p:nvPr/>
        </p:nvSpPr>
        <p:spPr>
          <a:xfrm>
            <a:off x="676275" y="1666875"/>
            <a:ext cx="56559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14" name="Table 15"/>
          <p:cNvGraphicFramePr/>
          <p:nvPr/>
        </p:nvGraphicFramePr>
        <p:xfrm>
          <a:off x="676275" y="1790700"/>
          <a:ext cx="565591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0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排名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路段名稱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發生件數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{{R8}}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{{RN8}}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{{R9}}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{{RN9}}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{{R10}}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{{RN10}}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19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7601" y="1352550"/>
            <a:ext cx="88999" cy="114300"/>
          </a:xfrm>
          <a:prstGeom prst="rect">
            <a:avLst/>
          </a:prstGeom>
        </p:spPr>
      </p:pic>
      <p:pic>
        <p:nvPicPr>
          <p:cNvPr id="120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5F95F2B-FB9B-4469-882A-5BA9A878428C}"/>
              </a:ext>
            </a:extLst>
          </p:cNvPr>
          <p:cNvSpPr>
            <a:spLocks noGrp="1"/>
          </p:cNvSpPr>
          <p:nvPr/>
        </p:nvSpPr>
        <p:spPr>
          <a:xfrm>
            <a:off x="676275" y="24336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0799E7-4B5C-463C-BD69-B5817B679439}"/>
              </a:ext>
            </a:extLst>
          </p:cNvPr>
          <p:cNvSpPr>
            <a:spLocks noGrp="1"/>
          </p:cNvSpPr>
          <p:nvPr/>
        </p:nvSpPr>
        <p:spPr>
          <a:xfrm>
            <a:off x="1354931" y="243363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61A66E-5781-4593-924B-6CAC4D4D9EB5}"/>
              </a:ext>
            </a:extLst>
          </p:cNvPr>
          <p:cNvSpPr>
            <a:spLocks noGrp="1"/>
          </p:cNvSpPr>
          <p:nvPr/>
        </p:nvSpPr>
        <p:spPr>
          <a:xfrm>
            <a:off x="4635400" y="243363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9ECD47-5CC0-4484-82B0-34A9C52529F7}"/>
              </a:ext>
            </a:extLst>
          </p:cNvPr>
          <p:cNvSpPr>
            <a:spLocks noGrp="1"/>
          </p:cNvSpPr>
          <p:nvPr/>
        </p:nvSpPr>
        <p:spPr>
          <a:xfrm>
            <a:off x="676275" y="27670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68C34-E2B7-49E5-91BA-10C3BB3C4A96}"/>
              </a:ext>
            </a:extLst>
          </p:cNvPr>
          <p:cNvSpPr>
            <a:spLocks noGrp="1"/>
          </p:cNvSpPr>
          <p:nvPr/>
        </p:nvSpPr>
        <p:spPr>
          <a:xfrm>
            <a:off x="1354931" y="276701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3D840E-BDAF-4F73-8ECA-4286D519255B}"/>
              </a:ext>
            </a:extLst>
          </p:cNvPr>
          <p:cNvSpPr>
            <a:spLocks noGrp="1"/>
          </p:cNvSpPr>
          <p:nvPr/>
        </p:nvSpPr>
        <p:spPr>
          <a:xfrm>
            <a:off x="4635400" y="27670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D21DBA-EFEE-409D-A9D1-C161C1770FF1}"/>
              </a:ext>
            </a:extLst>
          </p:cNvPr>
          <p:cNvSpPr>
            <a:spLocks noGrp="1"/>
          </p:cNvSpPr>
          <p:nvPr/>
        </p:nvSpPr>
        <p:spPr>
          <a:xfrm>
            <a:off x="676275" y="310038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0B997E-9FAE-41D9-8980-EDA72210A43E}"/>
              </a:ext>
            </a:extLst>
          </p:cNvPr>
          <p:cNvSpPr>
            <a:spLocks noGrp="1"/>
          </p:cNvSpPr>
          <p:nvPr/>
        </p:nvSpPr>
        <p:spPr>
          <a:xfrm>
            <a:off x="1354931" y="310038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85DECC-B3A2-41CC-BE29-E708D88FCE1E}"/>
              </a:ext>
            </a:extLst>
          </p:cNvPr>
          <p:cNvSpPr>
            <a:spLocks noGrp="1"/>
          </p:cNvSpPr>
          <p:nvPr/>
        </p:nvSpPr>
        <p:spPr>
          <a:xfrm>
            <a:off x="4635400" y="310038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BE27E7-B5F2-4708-8181-D02063F942D8}"/>
              </a:ext>
            </a:extLst>
          </p:cNvPr>
          <p:cNvSpPr>
            <a:spLocks noGrp="1"/>
          </p:cNvSpPr>
          <p:nvPr/>
        </p:nvSpPr>
        <p:spPr>
          <a:xfrm>
            <a:off x="676275" y="343376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D41CB6-5582-4AFE-A1C8-73240B278336}"/>
              </a:ext>
            </a:extLst>
          </p:cNvPr>
          <p:cNvSpPr>
            <a:spLocks noGrp="1"/>
          </p:cNvSpPr>
          <p:nvPr/>
        </p:nvSpPr>
        <p:spPr>
          <a:xfrm>
            <a:off x="1354931" y="343376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193F1B-7CFA-4DFD-B3EC-CF37845645F1}"/>
              </a:ext>
            </a:extLst>
          </p:cNvPr>
          <p:cNvSpPr>
            <a:spLocks noGrp="1"/>
          </p:cNvSpPr>
          <p:nvPr/>
        </p:nvSpPr>
        <p:spPr>
          <a:xfrm>
            <a:off x="4635400" y="343376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279355-1891-43A8-9120-F5965A45A28F}"/>
              </a:ext>
            </a:extLst>
          </p:cNvPr>
          <p:cNvSpPr>
            <a:spLocks noGrp="1"/>
          </p:cNvSpPr>
          <p:nvPr/>
        </p:nvSpPr>
        <p:spPr>
          <a:xfrm>
            <a:off x="676275" y="37671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43CA9D-A93A-4E62-91DD-9F03E9A93B6F}"/>
              </a:ext>
            </a:extLst>
          </p:cNvPr>
          <p:cNvSpPr>
            <a:spLocks noGrp="1"/>
          </p:cNvSpPr>
          <p:nvPr/>
        </p:nvSpPr>
        <p:spPr>
          <a:xfrm>
            <a:off x="1354931" y="376713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C2EF52-21A3-4351-8C4E-2883F9831A2C}"/>
              </a:ext>
            </a:extLst>
          </p:cNvPr>
          <p:cNvSpPr>
            <a:spLocks noGrp="1"/>
          </p:cNvSpPr>
          <p:nvPr/>
        </p:nvSpPr>
        <p:spPr>
          <a:xfrm>
            <a:off x="4635400" y="376713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F5E2AB-50C5-4950-A943-A57F11D9D8ED}"/>
              </a:ext>
            </a:extLst>
          </p:cNvPr>
          <p:cNvSpPr>
            <a:spLocks noGrp="1"/>
          </p:cNvSpPr>
          <p:nvPr/>
        </p:nvSpPr>
        <p:spPr>
          <a:xfrm>
            <a:off x="676275" y="41005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B399F5-55B8-4DAF-A297-2BEEAAC73F35}"/>
              </a:ext>
            </a:extLst>
          </p:cNvPr>
          <p:cNvSpPr>
            <a:spLocks noGrp="1"/>
          </p:cNvSpPr>
          <p:nvPr/>
        </p:nvSpPr>
        <p:spPr>
          <a:xfrm>
            <a:off x="1354931" y="410051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61D9BA-DF26-49DF-80C0-6A8AC604D0EB}"/>
              </a:ext>
            </a:extLst>
          </p:cNvPr>
          <p:cNvSpPr>
            <a:spLocks noGrp="1"/>
          </p:cNvSpPr>
          <p:nvPr/>
        </p:nvSpPr>
        <p:spPr>
          <a:xfrm>
            <a:off x="4635400" y="41005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0909A0-BD5F-43A7-A9E9-456C64CE4800}"/>
              </a:ext>
            </a:extLst>
          </p:cNvPr>
          <p:cNvSpPr>
            <a:spLocks noGrp="1"/>
          </p:cNvSpPr>
          <p:nvPr/>
        </p:nvSpPr>
        <p:spPr>
          <a:xfrm>
            <a:off x="676275" y="443388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4DA80B9-9E53-404B-80D2-429E90E60FF0}"/>
              </a:ext>
            </a:extLst>
          </p:cNvPr>
          <p:cNvSpPr>
            <a:spLocks noGrp="1"/>
          </p:cNvSpPr>
          <p:nvPr/>
        </p:nvSpPr>
        <p:spPr>
          <a:xfrm>
            <a:off x="1354931" y="443388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6F109E-9FA8-452F-88B6-E40AB9623E18}"/>
              </a:ext>
            </a:extLst>
          </p:cNvPr>
          <p:cNvSpPr>
            <a:spLocks noGrp="1"/>
          </p:cNvSpPr>
          <p:nvPr/>
        </p:nvSpPr>
        <p:spPr>
          <a:xfrm>
            <a:off x="4635400" y="443388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C81F782-A526-4D3B-B825-CBF813ECF550}"/>
              </a:ext>
            </a:extLst>
          </p:cNvPr>
          <p:cNvSpPr>
            <a:spLocks noGrp="1"/>
          </p:cNvSpPr>
          <p:nvPr/>
        </p:nvSpPr>
        <p:spPr>
          <a:xfrm>
            <a:off x="676275" y="476726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DC7B7-B146-40D6-AEB9-37FE003D5226}"/>
              </a:ext>
            </a:extLst>
          </p:cNvPr>
          <p:cNvSpPr>
            <a:spLocks noGrp="1"/>
          </p:cNvSpPr>
          <p:nvPr/>
        </p:nvSpPr>
        <p:spPr>
          <a:xfrm>
            <a:off x="1354931" y="476726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654839-3FA1-4A01-8774-51A660BE2383}"/>
              </a:ext>
            </a:extLst>
          </p:cNvPr>
          <p:cNvSpPr>
            <a:spLocks noGrp="1"/>
          </p:cNvSpPr>
          <p:nvPr/>
        </p:nvSpPr>
        <p:spPr>
          <a:xfrm>
            <a:off x="4635400" y="476726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246B33-FB37-413B-B5AD-DB34E076FD57}"/>
              </a:ext>
            </a:extLst>
          </p:cNvPr>
          <p:cNvSpPr>
            <a:spLocks noGrp="1"/>
          </p:cNvSpPr>
          <p:nvPr/>
        </p:nvSpPr>
        <p:spPr>
          <a:xfrm>
            <a:off x="676275" y="51006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99E693-23DA-495C-B412-592E4EC934D6}"/>
              </a:ext>
            </a:extLst>
          </p:cNvPr>
          <p:cNvSpPr>
            <a:spLocks noGrp="1"/>
          </p:cNvSpPr>
          <p:nvPr/>
        </p:nvSpPr>
        <p:spPr>
          <a:xfrm>
            <a:off x="1354931" y="5100637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DBF01C-3A7C-4B45-A804-ED98BE277C05}"/>
              </a:ext>
            </a:extLst>
          </p:cNvPr>
          <p:cNvSpPr>
            <a:spLocks noGrp="1"/>
          </p:cNvSpPr>
          <p:nvPr/>
        </p:nvSpPr>
        <p:spPr>
          <a:xfrm>
            <a:off x="4635400" y="5100637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28185F0-9AAB-40B9-852E-993BD7F0B35C}"/>
              </a:ext>
            </a:extLst>
          </p:cNvPr>
          <p:cNvSpPr>
            <a:spLocks noGrp="1"/>
          </p:cNvSpPr>
          <p:nvPr/>
        </p:nvSpPr>
        <p:spPr>
          <a:xfrm>
            <a:off x="676275" y="54340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964D471-FC5D-4058-9D2A-B08CEB168EE3}"/>
              </a:ext>
            </a:extLst>
          </p:cNvPr>
          <p:cNvSpPr>
            <a:spLocks noGrp="1"/>
          </p:cNvSpPr>
          <p:nvPr/>
        </p:nvSpPr>
        <p:spPr>
          <a:xfrm>
            <a:off x="1354931" y="5434012"/>
            <a:ext cx="328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C68B68-47F4-4DCF-BF91-94F5467B53C9}"/>
              </a:ext>
            </a:extLst>
          </p:cNvPr>
          <p:cNvSpPr>
            <a:spLocks noGrp="1"/>
          </p:cNvSpPr>
          <p:nvPr/>
        </p:nvSpPr>
        <p:spPr>
          <a:xfrm>
            <a:off x="4635400" y="54340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51" name="Pictur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828" y="2171700"/>
            <a:ext cx="209550" cy="209550"/>
          </a:xfrm>
          <a:prstGeom prst="rect">
            <a:avLst/>
          </a:prstGeom>
        </p:spPr>
      </p:pic>
      <p:pic>
        <p:nvPicPr>
          <p:cNvPr id="154" name="Picture 5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828" y="2505075"/>
            <a:ext cx="209550" cy="209550"/>
          </a:xfrm>
          <a:prstGeom prst="rect">
            <a:avLst/>
          </a:prstGeom>
        </p:spPr>
      </p:pic>
      <p:pic>
        <p:nvPicPr>
          <p:cNvPr id="157" name="Picture 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0828" y="2838450"/>
            <a:ext cx="209550" cy="209550"/>
          </a:xfrm>
          <a:prstGeom prst="rect">
            <a:avLst/>
          </a:prstGeom>
        </p:spPr>
      </p:pic>
      <p:pic>
        <p:nvPicPr>
          <p:cNvPr id="160" name="Picture 6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0828" y="3171825"/>
            <a:ext cx="209550" cy="209550"/>
          </a:xfrm>
          <a:prstGeom prst="rect">
            <a:avLst/>
          </a:prstGeom>
        </p:spPr>
      </p:pic>
      <p:pic>
        <p:nvPicPr>
          <p:cNvPr id="163" name="Picture 6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0828" y="3505200"/>
            <a:ext cx="209550" cy="209550"/>
          </a:xfrm>
          <a:prstGeom prst="rect">
            <a:avLst/>
          </a:prstGeom>
        </p:spPr>
      </p:pic>
      <p:pic>
        <p:nvPicPr>
          <p:cNvPr id="166" name="Picture 6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828" y="3838575"/>
            <a:ext cx="209550" cy="209550"/>
          </a:xfrm>
          <a:prstGeom prst="rect">
            <a:avLst/>
          </a:prstGeom>
        </p:spPr>
      </p:pic>
      <p:pic>
        <p:nvPicPr>
          <p:cNvPr id="169" name="Picture 7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828" y="4171950"/>
            <a:ext cx="209550" cy="209550"/>
          </a:xfrm>
          <a:prstGeom prst="rect">
            <a:avLst/>
          </a:prstGeom>
        </p:spPr>
      </p:pic>
      <p:pic>
        <p:nvPicPr>
          <p:cNvPr id="172" name="Picture 7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828" y="4505325"/>
            <a:ext cx="209550" cy="209550"/>
          </a:xfrm>
          <a:prstGeom prst="rect">
            <a:avLst/>
          </a:prstGeom>
        </p:spPr>
      </p:pic>
      <p:pic>
        <p:nvPicPr>
          <p:cNvPr id="175" name="Picture 7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0828" y="4838700"/>
            <a:ext cx="209550" cy="209550"/>
          </a:xfrm>
          <a:prstGeom prst="rect">
            <a:avLst/>
          </a:prstGeom>
        </p:spPr>
      </p:pic>
      <p:pic>
        <p:nvPicPr>
          <p:cNvPr id="178" name="Picture 7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0828" y="5172075"/>
            <a:ext cx="209550" cy="209550"/>
          </a:xfrm>
          <a:prstGeom prst="rect">
            <a:avLst/>
          </a:prstGeom>
        </p:spPr>
      </p:pic>
      <p:pic>
        <p:nvPicPr>
          <p:cNvPr id="181" name="Picture 8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2351" y="1295400"/>
            <a:ext cx="1340048" cy="238125"/>
          </a:xfrm>
          <a:prstGeom prst="rect">
            <a:avLst/>
          </a:prstGeom>
        </p:spPr>
      </p:pic>
      <p:sp>
        <p:nvSpPr>
          <p:cNvPr id="10" name="圓角矩形 9">
            <a:extLst>
              <a:ext uri="{FF2B5EF4-FFF2-40B4-BE49-F238E27FC236}">
                <a16:creationId xmlns:a16="http://schemas.microsoft.com/office/drawing/2014/main" id="{E709945D-1A6E-14CD-229B-0D6418441D53}"/>
              </a:ext>
            </a:extLst>
          </p:cNvPr>
          <p:cNvSpPr/>
          <p:nvPr/>
        </p:nvSpPr>
        <p:spPr>
          <a:xfrm>
            <a:off x="683716" y="5645426"/>
            <a:ext cx="5648473" cy="5410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1F3754C-095A-8F4C-4349-62F81C4436B5}"/>
              </a:ext>
            </a:extLst>
          </p:cNvPr>
          <p:cNvSpPr txBox="1"/>
          <p:nvPr/>
        </p:nvSpPr>
        <p:spPr>
          <a:xfrm>
            <a:off x="664666" y="5640663"/>
            <a:ext cx="1583231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rgbClr val="1E3A8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事故重點分析：</a:t>
            </a:r>
          </a:p>
        </p:txBody>
      </p:sp>
    </p:spTree>
    <p:extLst>
      <p:ext uri="{BB962C8B-B14F-4D97-AF65-F5344CB8AC3E}">
        <p14:creationId xmlns:p14="http://schemas.microsoft.com/office/powerpoint/2010/main" val="145877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9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100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116" y="457200"/>
            <a:ext cx="1208633" cy="266700"/>
          </a:xfrm>
          <a:prstGeom prst="rect">
            <a:avLst/>
          </a:prstGeom>
        </p:spPr>
      </p:pic>
      <p:pic>
        <p:nvPicPr>
          <p:cNvPr id="101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62050"/>
            <a:ext cx="6055965" cy="5029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9A78AE-0D83-4F3C-8F34-CA15D7A77CFB}"/>
              </a:ext>
            </a:extLst>
          </p:cNvPr>
          <p:cNvSpPr>
            <a:spLocks noGrp="1"/>
          </p:cNvSpPr>
          <p:nvPr/>
        </p:nvSpPr>
        <p:spPr>
          <a:xfrm>
            <a:off x="798016" y="381000"/>
            <a:ext cx="4190054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400" b="1" i="0" u="none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三、易肇事路口分析 (Top 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9C8AC-1661-4C2C-BF33-A7D96AF1EB10}"/>
              </a:ext>
            </a:extLst>
          </p:cNvPr>
          <p:cNvSpPr>
            <a:spLocks noGrp="1"/>
          </p:cNvSpPr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 dirty="0" err="1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板橋分局交通安全週報</a:t>
            </a:r>
            <a:endParaRPr sz="900" b="0" i="0" u="none" dirty="0">
              <a:solidFill>
                <a:srgbClr val="94A3B8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206E1-AC16-4ED4-A4BE-6D93346B16D4}"/>
              </a:ext>
            </a:extLst>
          </p:cNvPr>
          <p:cNvSpPr>
            <a:spLocks noGrp="1"/>
          </p:cNvSpPr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第 4 頁 / 共 8 頁</a:t>
            </a:r>
          </a:p>
        </p:txBody>
      </p:sp>
      <p:pic>
        <p:nvPicPr>
          <p:cNvPr id="10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08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815" y="1162050"/>
            <a:ext cx="4954934" cy="5029200"/>
          </a:xfrm>
          <a:prstGeom prst="rect">
            <a:avLst/>
          </a:prstGeom>
        </p:spPr>
      </p:pic>
      <p:pic>
        <p:nvPicPr>
          <p:cNvPr id="109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9865" y="1181100"/>
            <a:ext cx="4916834" cy="4991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3E2425-4FE3-4719-9C9C-122C15644856}"/>
              </a:ext>
            </a:extLst>
          </p:cNvPr>
          <p:cNvSpPr>
            <a:spLocks noGrp="1"/>
          </p:cNvSpPr>
          <p:nvPr/>
        </p:nvSpPr>
        <p:spPr>
          <a:xfrm>
            <a:off x="885973" y="1362075"/>
            <a:ext cx="544621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易肇事路口排名與件數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255C28-41A3-427E-A068-74FAC347295C}"/>
              </a:ext>
            </a:extLst>
          </p:cNvPr>
          <p:cNvSpPr>
            <a:spLocks noGrp="1"/>
          </p:cNvSpPr>
          <p:nvPr/>
        </p:nvSpPr>
        <p:spPr>
          <a:xfrm>
            <a:off x="676275" y="1666875"/>
            <a:ext cx="565591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12" name="Table 15"/>
          <p:cNvGraphicFramePr/>
          <p:nvPr/>
        </p:nvGraphicFramePr>
        <p:xfrm>
          <a:off x="676275" y="1790700"/>
          <a:ext cx="565591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3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排名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路口名稱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件數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{{I8}}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{{IN8}}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{{I9}}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{{IN9}}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{{I10}}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{{IN10}}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16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3301" y="1352550"/>
            <a:ext cx="88999" cy="114300"/>
          </a:xfrm>
          <a:prstGeom prst="rect">
            <a:avLst/>
          </a:prstGeom>
        </p:spPr>
      </p:pic>
      <p:pic>
        <p:nvPicPr>
          <p:cNvPr id="117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3EF3686-6144-4D42-8206-C1BBB89247E3}"/>
              </a:ext>
            </a:extLst>
          </p:cNvPr>
          <p:cNvSpPr>
            <a:spLocks noGrp="1"/>
          </p:cNvSpPr>
          <p:nvPr/>
        </p:nvSpPr>
        <p:spPr>
          <a:xfrm>
            <a:off x="676275" y="24336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89653C-0336-4D07-B577-C46B37FD00DD}"/>
              </a:ext>
            </a:extLst>
          </p:cNvPr>
          <p:cNvSpPr>
            <a:spLocks noGrp="1"/>
          </p:cNvSpPr>
          <p:nvPr/>
        </p:nvSpPr>
        <p:spPr>
          <a:xfrm>
            <a:off x="1354931" y="243363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101A23-4F75-4455-BE2A-0660CFBCA5ED}"/>
              </a:ext>
            </a:extLst>
          </p:cNvPr>
          <p:cNvSpPr>
            <a:spLocks noGrp="1"/>
          </p:cNvSpPr>
          <p:nvPr/>
        </p:nvSpPr>
        <p:spPr>
          <a:xfrm>
            <a:off x="4748510" y="243363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034500-D352-4183-884A-2AFBC97520EF}"/>
              </a:ext>
            </a:extLst>
          </p:cNvPr>
          <p:cNvSpPr>
            <a:spLocks noGrp="1"/>
          </p:cNvSpPr>
          <p:nvPr/>
        </p:nvSpPr>
        <p:spPr>
          <a:xfrm>
            <a:off x="676275" y="27670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50A35D-C037-4375-907F-C427D030B050}"/>
              </a:ext>
            </a:extLst>
          </p:cNvPr>
          <p:cNvSpPr>
            <a:spLocks noGrp="1"/>
          </p:cNvSpPr>
          <p:nvPr/>
        </p:nvSpPr>
        <p:spPr>
          <a:xfrm>
            <a:off x="1354931" y="276701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DA1DB7-6F70-4430-A4B8-F3C72834FBBD}"/>
              </a:ext>
            </a:extLst>
          </p:cNvPr>
          <p:cNvSpPr>
            <a:spLocks noGrp="1"/>
          </p:cNvSpPr>
          <p:nvPr/>
        </p:nvSpPr>
        <p:spPr>
          <a:xfrm>
            <a:off x="4748510" y="276701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D8C8BA-A6BF-46D4-9541-B9ED06B5D4EB}"/>
              </a:ext>
            </a:extLst>
          </p:cNvPr>
          <p:cNvSpPr>
            <a:spLocks noGrp="1"/>
          </p:cNvSpPr>
          <p:nvPr/>
        </p:nvSpPr>
        <p:spPr>
          <a:xfrm>
            <a:off x="676275" y="310038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C9B1C6-8B30-42F2-BFCE-5B98A3B07C7C}"/>
              </a:ext>
            </a:extLst>
          </p:cNvPr>
          <p:cNvSpPr>
            <a:spLocks noGrp="1"/>
          </p:cNvSpPr>
          <p:nvPr/>
        </p:nvSpPr>
        <p:spPr>
          <a:xfrm>
            <a:off x="1354931" y="310038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3DC9F5-669B-4E1A-9532-4A72C28BE302}"/>
              </a:ext>
            </a:extLst>
          </p:cNvPr>
          <p:cNvSpPr>
            <a:spLocks noGrp="1"/>
          </p:cNvSpPr>
          <p:nvPr/>
        </p:nvSpPr>
        <p:spPr>
          <a:xfrm>
            <a:off x="4748510" y="310038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044082-A6FF-4344-A5B0-411EE93B0C34}"/>
              </a:ext>
            </a:extLst>
          </p:cNvPr>
          <p:cNvSpPr>
            <a:spLocks noGrp="1"/>
          </p:cNvSpPr>
          <p:nvPr/>
        </p:nvSpPr>
        <p:spPr>
          <a:xfrm>
            <a:off x="676275" y="343376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E7B6EB-8CFE-4CC1-ADB4-7F2F9FC93669}"/>
              </a:ext>
            </a:extLst>
          </p:cNvPr>
          <p:cNvSpPr>
            <a:spLocks noGrp="1"/>
          </p:cNvSpPr>
          <p:nvPr/>
        </p:nvSpPr>
        <p:spPr>
          <a:xfrm>
            <a:off x="1354931" y="343376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B58CE6-A05A-43DE-A8F9-25B9F55E3E71}"/>
              </a:ext>
            </a:extLst>
          </p:cNvPr>
          <p:cNvSpPr>
            <a:spLocks noGrp="1"/>
          </p:cNvSpPr>
          <p:nvPr/>
        </p:nvSpPr>
        <p:spPr>
          <a:xfrm>
            <a:off x="4748510" y="343376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92CCF0-FF81-4526-B5FA-695B56BD3E99}"/>
              </a:ext>
            </a:extLst>
          </p:cNvPr>
          <p:cNvSpPr>
            <a:spLocks noGrp="1"/>
          </p:cNvSpPr>
          <p:nvPr/>
        </p:nvSpPr>
        <p:spPr>
          <a:xfrm>
            <a:off x="676275" y="37671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DC11B7-0E1D-48E6-BC62-122CEF60095F}"/>
              </a:ext>
            </a:extLst>
          </p:cNvPr>
          <p:cNvSpPr>
            <a:spLocks noGrp="1"/>
          </p:cNvSpPr>
          <p:nvPr/>
        </p:nvSpPr>
        <p:spPr>
          <a:xfrm>
            <a:off x="1354931" y="376713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70F6CB-5623-417B-AE30-51F2E28BBAEF}"/>
              </a:ext>
            </a:extLst>
          </p:cNvPr>
          <p:cNvSpPr>
            <a:spLocks noGrp="1"/>
          </p:cNvSpPr>
          <p:nvPr/>
        </p:nvSpPr>
        <p:spPr>
          <a:xfrm>
            <a:off x="4748510" y="376713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217753-FACA-4BB0-9DBE-786EF18B934F}"/>
              </a:ext>
            </a:extLst>
          </p:cNvPr>
          <p:cNvSpPr>
            <a:spLocks noGrp="1"/>
          </p:cNvSpPr>
          <p:nvPr/>
        </p:nvSpPr>
        <p:spPr>
          <a:xfrm>
            <a:off x="676275" y="41005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0EFD28-82F9-47C7-A86F-7FC96943CD9A}"/>
              </a:ext>
            </a:extLst>
          </p:cNvPr>
          <p:cNvSpPr>
            <a:spLocks noGrp="1"/>
          </p:cNvSpPr>
          <p:nvPr/>
        </p:nvSpPr>
        <p:spPr>
          <a:xfrm>
            <a:off x="1354931" y="410051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B8287E-DA7C-42B7-BBB7-F46E90BF7CE3}"/>
              </a:ext>
            </a:extLst>
          </p:cNvPr>
          <p:cNvSpPr>
            <a:spLocks noGrp="1"/>
          </p:cNvSpPr>
          <p:nvPr/>
        </p:nvSpPr>
        <p:spPr>
          <a:xfrm>
            <a:off x="4748510" y="410051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9A21E5-DEDF-44A9-8677-0A69BBC7D334}"/>
              </a:ext>
            </a:extLst>
          </p:cNvPr>
          <p:cNvSpPr>
            <a:spLocks noGrp="1"/>
          </p:cNvSpPr>
          <p:nvPr/>
        </p:nvSpPr>
        <p:spPr>
          <a:xfrm>
            <a:off x="676275" y="443388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B6CE64-A27A-4AD9-8EA8-C457FDE38946}"/>
              </a:ext>
            </a:extLst>
          </p:cNvPr>
          <p:cNvSpPr>
            <a:spLocks noGrp="1"/>
          </p:cNvSpPr>
          <p:nvPr/>
        </p:nvSpPr>
        <p:spPr>
          <a:xfrm>
            <a:off x="1354931" y="443388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16E70E-7C6A-4292-A4E6-7353FFC78CBA}"/>
              </a:ext>
            </a:extLst>
          </p:cNvPr>
          <p:cNvSpPr>
            <a:spLocks noGrp="1"/>
          </p:cNvSpPr>
          <p:nvPr/>
        </p:nvSpPr>
        <p:spPr>
          <a:xfrm>
            <a:off x="4748510" y="443388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75B53A-0DEB-4050-9F65-6FC3D553E9D6}"/>
              </a:ext>
            </a:extLst>
          </p:cNvPr>
          <p:cNvSpPr>
            <a:spLocks noGrp="1"/>
          </p:cNvSpPr>
          <p:nvPr/>
        </p:nvSpPr>
        <p:spPr>
          <a:xfrm>
            <a:off x="676275" y="476726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96D971-DF79-4DD1-9112-59428B3AE6E0}"/>
              </a:ext>
            </a:extLst>
          </p:cNvPr>
          <p:cNvSpPr>
            <a:spLocks noGrp="1"/>
          </p:cNvSpPr>
          <p:nvPr/>
        </p:nvSpPr>
        <p:spPr>
          <a:xfrm>
            <a:off x="1354931" y="476726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FD846A-7340-4F19-9C90-053365C1C934}"/>
              </a:ext>
            </a:extLst>
          </p:cNvPr>
          <p:cNvSpPr>
            <a:spLocks noGrp="1"/>
          </p:cNvSpPr>
          <p:nvPr/>
        </p:nvSpPr>
        <p:spPr>
          <a:xfrm>
            <a:off x="4748510" y="476726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408BC1-5EB0-42D5-B96D-2E394F77A0CA}"/>
              </a:ext>
            </a:extLst>
          </p:cNvPr>
          <p:cNvSpPr>
            <a:spLocks noGrp="1"/>
          </p:cNvSpPr>
          <p:nvPr/>
        </p:nvSpPr>
        <p:spPr>
          <a:xfrm>
            <a:off x="676275" y="5100637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CF40B4-9C80-4E58-87E9-1DE645892E0A}"/>
              </a:ext>
            </a:extLst>
          </p:cNvPr>
          <p:cNvSpPr>
            <a:spLocks noGrp="1"/>
          </p:cNvSpPr>
          <p:nvPr/>
        </p:nvSpPr>
        <p:spPr>
          <a:xfrm>
            <a:off x="1354931" y="5100637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F3F2124-32CA-49EC-8EC8-CBE3F2386941}"/>
              </a:ext>
            </a:extLst>
          </p:cNvPr>
          <p:cNvSpPr>
            <a:spLocks noGrp="1"/>
          </p:cNvSpPr>
          <p:nvPr/>
        </p:nvSpPr>
        <p:spPr>
          <a:xfrm>
            <a:off x="4748510" y="5100637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A4286B2-AAD8-4FC6-A3B2-8D90CE98CDEC}"/>
              </a:ext>
            </a:extLst>
          </p:cNvPr>
          <p:cNvSpPr>
            <a:spLocks noGrp="1"/>
          </p:cNvSpPr>
          <p:nvPr/>
        </p:nvSpPr>
        <p:spPr>
          <a:xfrm>
            <a:off x="676275" y="5434012"/>
            <a:ext cx="6786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0EB342-9C90-435D-9F37-56025B58ABE2}"/>
              </a:ext>
            </a:extLst>
          </p:cNvPr>
          <p:cNvSpPr>
            <a:spLocks noGrp="1"/>
          </p:cNvSpPr>
          <p:nvPr/>
        </p:nvSpPr>
        <p:spPr>
          <a:xfrm>
            <a:off x="1354931" y="5434012"/>
            <a:ext cx="33935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B921E1-7C8A-407F-801E-7F9DACAE8C61}"/>
              </a:ext>
            </a:extLst>
          </p:cNvPr>
          <p:cNvSpPr>
            <a:spLocks noGrp="1"/>
          </p:cNvSpPr>
          <p:nvPr/>
        </p:nvSpPr>
        <p:spPr>
          <a:xfrm>
            <a:off x="4748510" y="5434012"/>
            <a:ext cx="15836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8" name="Picture 5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828" y="2171700"/>
            <a:ext cx="209550" cy="209550"/>
          </a:xfrm>
          <a:prstGeom prst="rect">
            <a:avLst/>
          </a:prstGeom>
        </p:spPr>
      </p:pic>
      <p:pic>
        <p:nvPicPr>
          <p:cNvPr id="151" name="Picture 5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828" y="2505075"/>
            <a:ext cx="209550" cy="209550"/>
          </a:xfrm>
          <a:prstGeom prst="rect">
            <a:avLst/>
          </a:prstGeom>
        </p:spPr>
      </p:pic>
      <p:pic>
        <p:nvPicPr>
          <p:cNvPr id="154" name="Picture 5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0828" y="2838450"/>
            <a:ext cx="209550" cy="209550"/>
          </a:xfrm>
          <a:prstGeom prst="rect">
            <a:avLst/>
          </a:prstGeom>
        </p:spPr>
      </p:pic>
      <p:pic>
        <p:nvPicPr>
          <p:cNvPr id="157" name="Picture 6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0828" y="3171825"/>
            <a:ext cx="209550" cy="209550"/>
          </a:xfrm>
          <a:prstGeom prst="rect">
            <a:avLst/>
          </a:prstGeom>
        </p:spPr>
      </p:pic>
      <p:pic>
        <p:nvPicPr>
          <p:cNvPr id="160" name="Picture 6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0828" y="3505200"/>
            <a:ext cx="209550" cy="209550"/>
          </a:xfrm>
          <a:prstGeom prst="rect">
            <a:avLst/>
          </a:prstGeom>
        </p:spPr>
      </p:pic>
      <p:pic>
        <p:nvPicPr>
          <p:cNvPr id="163" name="Picture 6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828" y="3838575"/>
            <a:ext cx="209550" cy="209550"/>
          </a:xfrm>
          <a:prstGeom prst="rect">
            <a:avLst/>
          </a:prstGeom>
        </p:spPr>
      </p:pic>
      <p:pic>
        <p:nvPicPr>
          <p:cNvPr id="166" name="Picture 6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828" y="4171950"/>
            <a:ext cx="209550" cy="209550"/>
          </a:xfrm>
          <a:prstGeom prst="rect">
            <a:avLst/>
          </a:prstGeom>
        </p:spPr>
      </p:pic>
      <p:pic>
        <p:nvPicPr>
          <p:cNvPr id="169" name="Picture 7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0828" y="4505325"/>
            <a:ext cx="209550" cy="209550"/>
          </a:xfrm>
          <a:prstGeom prst="rect">
            <a:avLst/>
          </a:prstGeom>
        </p:spPr>
      </p:pic>
      <p:pic>
        <p:nvPicPr>
          <p:cNvPr id="172" name="Picture 7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0828" y="4838700"/>
            <a:ext cx="209550" cy="209550"/>
          </a:xfrm>
          <a:prstGeom prst="rect">
            <a:avLst/>
          </a:prstGeom>
        </p:spPr>
      </p:pic>
      <p:pic>
        <p:nvPicPr>
          <p:cNvPr id="175" name="Picture 7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0828" y="5172075"/>
            <a:ext cx="209550" cy="209550"/>
          </a:xfrm>
          <a:prstGeom prst="rect">
            <a:avLst/>
          </a:prstGeom>
        </p:spPr>
      </p:pic>
      <p:pic>
        <p:nvPicPr>
          <p:cNvPr id="178" name="Picture 8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28051" y="1295400"/>
            <a:ext cx="1454348" cy="238125"/>
          </a:xfrm>
          <a:prstGeom prst="rect">
            <a:avLst/>
          </a:prstGeom>
        </p:spPr>
      </p:pic>
      <p:sp>
        <p:nvSpPr>
          <p:cNvPr id="2" name="圓角矩形 1">
            <a:extLst>
              <a:ext uri="{FF2B5EF4-FFF2-40B4-BE49-F238E27FC236}">
                <a16:creationId xmlns:a16="http://schemas.microsoft.com/office/drawing/2014/main" id="{AC205831-A18C-19BC-925B-1D4AEE023524}"/>
              </a:ext>
            </a:extLst>
          </p:cNvPr>
          <p:cNvSpPr/>
          <p:nvPr/>
        </p:nvSpPr>
        <p:spPr>
          <a:xfrm>
            <a:off x="636091" y="5539301"/>
            <a:ext cx="5648473" cy="5410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6686D18-17DA-9D8A-5A3B-BBF1D5D68161}"/>
              </a:ext>
            </a:extLst>
          </p:cNvPr>
          <p:cNvSpPr txBox="1"/>
          <p:nvPr/>
        </p:nvSpPr>
        <p:spPr>
          <a:xfrm>
            <a:off x="683716" y="5594777"/>
            <a:ext cx="1583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事故焦點路口：</a:t>
            </a:r>
          </a:p>
        </p:txBody>
      </p:sp>
    </p:spTree>
    <p:extLst>
      <p:ext uri="{BB962C8B-B14F-4D97-AF65-F5344CB8AC3E}">
        <p14:creationId xmlns:p14="http://schemas.microsoft.com/office/powerpoint/2010/main" val="116403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4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115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7066" y="457200"/>
            <a:ext cx="1608683" cy="266700"/>
          </a:xfrm>
          <a:prstGeom prst="rect">
            <a:avLst/>
          </a:prstGeom>
        </p:spPr>
      </p:pic>
      <p:pic>
        <p:nvPicPr>
          <p:cNvPr id="116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62050"/>
            <a:ext cx="5505450" cy="5029200"/>
          </a:xfrm>
          <a:prstGeom prst="rect">
            <a:avLst/>
          </a:prstGeom>
        </p:spPr>
      </p:pic>
      <p:pic>
        <p:nvPicPr>
          <p:cNvPr id="117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162050"/>
            <a:ext cx="5505450" cy="5029200"/>
          </a:xfrm>
          <a:prstGeom prst="rect">
            <a:avLst/>
          </a:prstGeom>
        </p:spPr>
      </p:pic>
      <p:pic>
        <p:nvPicPr>
          <p:cNvPr id="120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5" y="1790700"/>
            <a:ext cx="4229100" cy="171450"/>
          </a:xfrm>
          <a:prstGeom prst="rect">
            <a:avLst/>
          </a:prstGeom>
        </p:spPr>
      </p:pic>
      <p:pic>
        <p:nvPicPr>
          <p:cNvPr id="121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5" y="2038350"/>
            <a:ext cx="4229100" cy="171450"/>
          </a:xfrm>
          <a:prstGeom prst="rect">
            <a:avLst/>
          </a:prstGeom>
        </p:spPr>
      </p:pic>
      <p:pic>
        <p:nvPicPr>
          <p:cNvPr id="122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5" y="2286000"/>
            <a:ext cx="4229100" cy="171450"/>
          </a:xfrm>
          <a:prstGeom prst="rect">
            <a:avLst/>
          </a:prstGeom>
        </p:spPr>
      </p:pic>
      <p:pic>
        <p:nvPicPr>
          <p:cNvPr id="123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5" y="2533650"/>
            <a:ext cx="4229100" cy="171450"/>
          </a:xfrm>
          <a:prstGeom prst="rect">
            <a:avLst/>
          </a:prstGeom>
        </p:spPr>
      </p:pic>
      <p:pic>
        <p:nvPicPr>
          <p:cNvPr id="124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5" y="2781300"/>
            <a:ext cx="4229100" cy="171450"/>
          </a:xfrm>
          <a:prstGeom prst="rect">
            <a:avLst/>
          </a:prstGeom>
        </p:spPr>
      </p:pic>
      <p:pic>
        <p:nvPicPr>
          <p:cNvPr id="125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5" y="3028950"/>
            <a:ext cx="4229100" cy="171450"/>
          </a:xfrm>
          <a:prstGeom prst="rect">
            <a:avLst/>
          </a:prstGeom>
        </p:spPr>
      </p:pic>
      <p:pic>
        <p:nvPicPr>
          <p:cNvPr id="126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5" y="3276600"/>
            <a:ext cx="4229100" cy="171450"/>
          </a:xfrm>
          <a:prstGeom prst="rect">
            <a:avLst/>
          </a:prstGeom>
        </p:spPr>
      </p:pic>
      <p:pic>
        <p:nvPicPr>
          <p:cNvPr id="127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1790700"/>
            <a:ext cx="4229100" cy="171450"/>
          </a:xfrm>
          <a:prstGeom prst="rect">
            <a:avLst/>
          </a:prstGeom>
        </p:spPr>
      </p:pic>
      <p:pic>
        <p:nvPicPr>
          <p:cNvPr id="128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2575" y="2038350"/>
            <a:ext cx="3214092" cy="171450"/>
          </a:xfrm>
          <a:prstGeom prst="rect">
            <a:avLst/>
          </a:prstGeom>
        </p:spPr>
      </p:pic>
      <p:pic>
        <p:nvPicPr>
          <p:cNvPr id="129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2575" y="2286000"/>
            <a:ext cx="2325885" cy="171450"/>
          </a:xfrm>
          <a:prstGeom prst="rect">
            <a:avLst/>
          </a:prstGeom>
        </p:spPr>
      </p:pic>
      <p:pic>
        <p:nvPicPr>
          <p:cNvPr id="130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2575" y="2533650"/>
            <a:ext cx="1564630" cy="171450"/>
          </a:xfrm>
          <a:prstGeom prst="rect">
            <a:avLst/>
          </a:prstGeom>
        </p:spPr>
      </p:pic>
      <p:pic>
        <p:nvPicPr>
          <p:cNvPr id="131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2575" y="2781300"/>
            <a:ext cx="1818382" cy="171450"/>
          </a:xfrm>
          <a:prstGeom prst="rect">
            <a:avLst/>
          </a:prstGeom>
        </p:spPr>
      </p:pic>
      <p:pic>
        <p:nvPicPr>
          <p:cNvPr id="132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2575" y="3028950"/>
            <a:ext cx="1987599" cy="171450"/>
          </a:xfrm>
          <a:prstGeom prst="rect">
            <a:avLst/>
          </a:prstGeom>
        </p:spPr>
      </p:pic>
      <p:pic>
        <p:nvPicPr>
          <p:cNvPr id="133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2575" y="3276600"/>
            <a:ext cx="1141809" cy="1714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8111E57-BBF3-418E-90CE-8E28E902A7C6}"/>
              </a:ext>
            </a:extLst>
          </p:cNvPr>
          <p:cNvSpPr>
            <a:spLocks noGrp="1"/>
          </p:cNvSpPr>
          <p:nvPr/>
        </p:nvSpPr>
        <p:spPr>
          <a:xfrm>
            <a:off x="798016" y="381000"/>
            <a:ext cx="416052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400" b="1" i="0" u="none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四、事故時段與主要肇因分析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B59A3E-753A-48CE-B0CD-06690C7814E0}"/>
              </a:ext>
            </a:extLst>
          </p:cNvPr>
          <p:cNvSpPr>
            <a:spLocks noGrp="1"/>
          </p:cNvSpPr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板橋分局交通安全週報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0B5D2F-A565-4DED-82D4-F473C064BA52}"/>
              </a:ext>
            </a:extLst>
          </p:cNvPr>
          <p:cNvSpPr>
            <a:spLocks noGrp="1"/>
          </p:cNvSpPr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第 5 頁 / 共 8 頁</a:t>
            </a:r>
          </a:p>
        </p:txBody>
      </p:sp>
      <p:pic>
        <p:nvPicPr>
          <p:cNvPr id="137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DE22BE2-7805-4066-B310-F1C35F351C71}"/>
              </a:ext>
            </a:extLst>
          </p:cNvPr>
          <p:cNvSpPr>
            <a:spLocks noGrp="1"/>
          </p:cNvSpPr>
          <p:nvPr/>
        </p:nvSpPr>
        <p:spPr>
          <a:xfrm>
            <a:off x="885973" y="1362075"/>
            <a:ext cx="489570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事故發生時段分布 (2小時區間)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36CCEB-23B7-4908-B35A-70D75C698813}"/>
              </a:ext>
            </a:extLst>
          </p:cNvPr>
          <p:cNvSpPr>
            <a:spLocks noGrp="1"/>
          </p:cNvSpPr>
          <p:nvPr/>
        </p:nvSpPr>
        <p:spPr>
          <a:xfrm>
            <a:off x="676275" y="1666875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EBB2F8-4BEB-4A35-9D1A-AEB9E5156234}"/>
              </a:ext>
            </a:extLst>
          </p:cNvPr>
          <p:cNvSpPr>
            <a:spLocks noGrp="1"/>
          </p:cNvSpPr>
          <p:nvPr/>
        </p:nvSpPr>
        <p:spPr>
          <a:xfrm>
            <a:off x="6620023" y="1362075"/>
            <a:ext cx="489570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主要事故肇因統計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490E8F-D560-4658-A150-98E97B87E5CD}"/>
              </a:ext>
            </a:extLst>
          </p:cNvPr>
          <p:cNvSpPr>
            <a:spLocks noGrp="1"/>
          </p:cNvSpPr>
          <p:nvPr/>
        </p:nvSpPr>
        <p:spPr>
          <a:xfrm>
            <a:off x="6410325" y="1666875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45" name="Table 33"/>
          <p:cNvGraphicFramePr/>
          <p:nvPr/>
        </p:nvGraphicFramePr>
        <p:xfrm>
          <a:off x="6410325" y="1790700"/>
          <a:ext cx="5105399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排名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肇事原因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件數（占比）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{{CN1}}（{{CR1}}）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{{CN2}}（{{CR2}}）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{{CN3}}（{{CR3}}）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{{CN4}}（{{CR4}}）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{{CN5}}（{{CR5}}）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{{CN6}}（{{CR6}}）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7" name="Picture 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pic>
        <p:nvPicPr>
          <p:cNvPr id="148" name="Picture 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0325" y="1390650"/>
            <a:ext cx="133498" cy="17145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07046CA-1978-4995-847A-4D11037EDB74}"/>
              </a:ext>
            </a:extLst>
          </p:cNvPr>
          <p:cNvSpPr>
            <a:spLocks noGrp="1"/>
          </p:cNvSpPr>
          <p:nvPr/>
        </p:nvSpPr>
        <p:spPr>
          <a:xfrm>
            <a:off x="676275" y="17907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7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{{T1}}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10BB1A-2602-4815-B2B0-4CD2FC1D0765}"/>
              </a:ext>
            </a:extLst>
          </p:cNvPr>
          <p:cNvSpPr>
            <a:spLocks noGrp="1"/>
          </p:cNvSpPr>
          <p:nvPr/>
        </p:nvSpPr>
        <p:spPr>
          <a:xfrm>
            <a:off x="676275" y="203835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7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{{T2}}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ED4FC5-3899-4980-8676-37E223F1DA40}"/>
              </a:ext>
            </a:extLst>
          </p:cNvPr>
          <p:cNvSpPr>
            <a:spLocks noGrp="1"/>
          </p:cNvSpPr>
          <p:nvPr/>
        </p:nvSpPr>
        <p:spPr>
          <a:xfrm>
            <a:off x="676275" y="22860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7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{{T3}}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E31FD9-04A9-4C52-ABF2-8BA7B3FA5AA9}"/>
              </a:ext>
            </a:extLst>
          </p:cNvPr>
          <p:cNvSpPr>
            <a:spLocks noGrp="1"/>
          </p:cNvSpPr>
          <p:nvPr/>
        </p:nvSpPr>
        <p:spPr>
          <a:xfrm>
            <a:off x="676275" y="253365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7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{{T4}}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76D28D-23F7-47A3-8E4A-802923F306DA}"/>
              </a:ext>
            </a:extLst>
          </p:cNvPr>
          <p:cNvSpPr>
            <a:spLocks noGrp="1"/>
          </p:cNvSpPr>
          <p:nvPr/>
        </p:nvSpPr>
        <p:spPr>
          <a:xfrm>
            <a:off x="676275" y="27813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7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{{T5}}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E1827A-4FAF-459A-A1A1-6225174DF370}"/>
              </a:ext>
            </a:extLst>
          </p:cNvPr>
          <p:cNvSpPr>
            <a:spLocks noGrp="1"/>
          </p:cNvSpPr>
          <p:nvPr/>
        </p:nvSpPr>
        <p:spPr>
          <a:xfrm>
            <a:off x="676275" y="302895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7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{{T6}}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C68238-6E4B-48FC-A299-FDBF3FD2A982}"/>
              </a:ext>
            </a:extLst>
          </p:cNvPr>
          <p:cNvSpPr>
            <a:spLocks noGrp="1"/>
          </p:cNvSpPr>
          <p:nvPr/>
        </p:nvSpPr>
        <p:spPr>
          <a:xfrm>
            <a:off x="676275" y="32766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75" b="1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{{T7}}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1CBBDB-8BCE-4F6B-A2DA-A230C700364E}"/>
              </a:ext>
            </a:extLst>
          </p:cNvPr>
          <p:cNvSpPr>
            <a:spLocks noGrp="1"/>
          </p:cNvSpPr>
          <p:nvPr/>
        </p:nvSpPr>
        <p:spPr>
          <a:xfrm>
            <a:off x="6410325" y="2433637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2B7D15-4A5D-48F1-B975-6BD7168B742E}"/>
              </a:ext>
            </a:extLst>
          </p:cNvPr>
          <p:cNvSpPr>
            <a:spLocks noGrp="1"/>
          </p:cNvSpPr>
          <p:nvPr/>
        </p:nvSpPr>
        <p:spPr>
          <a:xfrm>
            <a:off x="7176045" y="2433637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0E63AFD-5795-4E2A-A616-D0F3AF958B55}"/>
              </a:ext>
            </a:extLst>
          </p:cNvPr>
          <p:cNvSpPr>
            <a:spLocks noGrp="1"/>
          </p:cNvSpPr>
          <p:nvPr/>
        </p:nvSpPr>
        <p:spPr>
          <a:xfrm>
            <a:off x="9983985" y="2433637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FB76E0-9BC6-4936-8F54-6ED568A5D9AE}"/>
              </a:ext>
            </a:extLst>
          </p:cNvPr>
          <p:cNvSpPr>
            <a:spLocks noGrp="1"/>
          </p:cNvSpPr>
          <p:nvPr/>
        </p:nvSpPr>
        <p:spPr>
          <a:xfrm>
            <a:off x="6410325" y="2767012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0365E0-9EC0-42C8-9EF5-B8641323F600}"/>
              </a:ext>
            </a:extLst>
          </p:cNvPr>
          <p:cNvSpPr>
            <a:spLocks noGrp="1"/>
          </p:cNvSpPr>
          <p:nvPr/>
        </p:nvSpPr>
        <p:spPr>
          <a:xfrm>
            <a:off x="7176045" y="2767012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3DAC025-B96C-4E07-8662-90ED2807F550}"/>
              </a:ext>
            </a:extLst>
          </p:cNvPr>
          <p:cNvSpPr>
            <a:spLocks noGrp="1"/>
          </p:cNvSpPr>
          <p:nvPr/>
        </p:nvSpPr>
        <p:spPr>
          <a:xfrm>
            <a:off x="9983985" y="2767012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69AE864-9959-4FE2-8642-F20B22676D60}"/>
              </a:ext>
            </a:extLst>
          </p:cNvPr>
          <p:cNvSpPr>
            <a:spLocks noGrp="1"/>
          </p:cNvSpPr>
          <p:nvPr/>
        </p:nvSpPr>
        <p:spPr>
          <a:xfrm>
            <a:off x="6410325" y="3100387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D89552-1F28-4B5A-8A50-F7DB8F8F3CF3}"/>
              </a:ext>
            </a:extLst>
          </p:cNvPr>
          <p:cNvSpPr>
            <a:spLocks noGrp="1"/>
          </p:cNvSpPr>
          <p:nvPr/>
        </p:nvSpPr>
        <p:spPr>
          <a:xfrm>
            <a:off x="7176045" y="3100387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958BB1-16C8-4CB4-9D03-EF08985D1B20}"/>
              </a:ext>
            </a:extLst>
          </p:cNvPr>
          <p:cNvSpPr>
            <a:spLocks noGrp="1"/>
          </p:cNvSpPr>
          <p:nvPr/>
        </p:nvSpPr>
        <p:spPr>
          <a:xfrm>
            <a:off x="9983985" y="3100387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EF9181-2A0F-407C-8E3F-CCA07E80D3D2}"/>
              </a:ext>
            </a:extLst>
          </p:cNvPr>
          <p:cNvSpPr>
            <a:spLocks noGrp="1"/>
          </p:cNvSpPr>
          <p:nvPr/>
        </p:nvSpPr>
        <p:spPr>
          <a:xfrm>
            <a:off x="6410325" y="3433762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B381F4B-A39D-45C4-8044-F6AED51657CE}"/>
              </a:ext>
            </a:extLst>
          </p:cNvPr>
          <p:cNvSpPr>
            <a:spLocks noGrp="1"/>
          </p:cNvSpPr>
          <p:nvPr/>
        </p:nvSpPr>
        <p:spPr>
          <a:xfrm>
            <a:off x="7176045" y="3433762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ECF36BE-E252-4AB5-8B90-86F626B500A6}"/>
              </a:ext>
            </a:extLst>
          </p:cNvPr>
          <p:cNvSpPr>
            <a:spLocks noGrp="1"/>
          </p:cNvSpPr>
          <p:nvPr/>
        </p:nvSpPr>
        <p:spPr>
          <a:xfrm>
            <a:off x="9983985" y="3433762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1D3B0A5-750A-40AC-B96D-F3AF61C9A769}"/>
              </a:ext>
            </a:extLst>
          </p:cNvPr>
          <p:cNvSpPr>
            <a:spLocks noGrp="1"/>
          </p:cNvSpPr>
          <p:nvPr/>
        </p:nvSpPr>
        <p:spPr>
          <a:xfrm>
            <a:off x="6410325" y="3767137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4453B3-0AF0-4D0F-B304-F353396AAF58}"/>
              </a:ext>
            </a:extLst>
          </p:cNvPr>
          <p:cNvSpPr>
            <a:spLocks noGrp="1"/>
          </p:cNvSpPr>
          <p:nvPr/>
        </p:nvSpPr>
        <p:spPr>
          <a:xfrm>
            <a:off x="7176045" y="3767137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0CA7644-5753-4138-B225-A7C215BC07A8}"/>
              </a:ext>
            </a:extLst>
          </p:cNvPr>
          <p:cNvSpPr>
            <a:spLocks noGrp="1"/>
          </p:cNvSpPr>
          <p:nvPr/>
        </p:nvSpPr>
        <p:spPr>
          <a:xfrm>
            <a:off x="9983985" y="3767137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46A34E5-B6D1-4995-B65D-7397DD185DEF}"/>
              </a:ext>
            </a:extLst>
          </p:cNvPr>
          <p:cNvSpPr>
            <a:spLocks noGrp="1"/>
          </p:cNvSpPr>
          <p:nvPr/>
        </p:nvSpPr>
        <p:spPr>
          <a:xfrm>
            <a:off x="6410325" y="4100512"/>
            <a:ext cx="7657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ABC0444-FAED-45FE-BFE2-58FA005A8DB8}"/>
              </a:ext>
            </a:extLst>
          </p:cNvPr>
          <p:cNvSpPr>
            <a:spLocks noGrp="1"/>
          </p:cNvSpPr>
          <p:nvPr/>
        </p:nvSpPr>
        <p:spPr>
          <a:xfrm>
            <a:off x="7176045" y="4100512"/>
            <a:ext cx="28079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8D21AC-3778-4D62-A549-74D225BC7745}"/>
              </a:ext>
            </a:extLst>
          </p:cNvPr>
          <p:cNvSpPr>
            <a:spLocks noGrp="1"/>
          </p:cNvSpPr>
          <p:nvPr/>
        </p:nvSpPr>
        <p:spPr>
          <a:xfrm>
            <a:off x="9983985" y="4100512"/>
            <a:ext cx="15317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484162-F3C7-47C2-A0C5-C3D6410D9F78}"/>
              </a:ext>
            </a:extLst>
          </p:cNvPr>
          <p:cNvSpPr>
            <a:spLocks noGrp="1"/>
          </p:cNvSpPr>
          <p:nvPr/>
        </p:nvSpPr>
        <p:spPr>
          <a:xfrm>
            <a:off x="4972645" y="1804987"/>
            <a:ext cx="675679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25" b="1" i="0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{{T1N}}（{{T1R}}）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C8B44A-F2EC-43AF-AAEC-550B9A07FBEB}"/>
              </a:ext>
            </a:extLst>
          </p:cNvPr>
          <p:cNvSpPr>
            <a:spLocks noGrp="1"/>
          </p:cNvSpPr>
          <p:nvPr/>
        </p:nvSpPr>
        <p:spPr>
          <a:xfrm>
            <a:off x="3963441" y="2052637"/>
            <a:ext cx="669875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25" b="1" i="0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{{T2N}}（{{T2R}}）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D22AF1-F514-49AA-A6C1-FEF0C9E948D4}"/>
              </a:ext>
            </a:extLst>
          </p:cNvPr>
          <p:cNvSpPr>
            <a:spLocks noGrp="1"/>
          </p:cNvSpPr>
          <p:nvPr/>
        </p:nvSpPr>
        <p:spPr>
          <a:xfrm>
            <a:off x="3127771" y="2300287"/>
            <a:ext cx="617339" cy="251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825" b="1" i="0" u="none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{{T3N}}（{{T3R}}）</a:t>
            </a:r>
          </a:p>
        </p:txBody>
      </p:sp>
      <p:pic>
        <p:nvPicPr>
          <p:cNvPr id="177" name="Picture 6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8335" y="2171700"/>
            <a:ext cx="209550" cy="209550"/>
          </a:xfrm>
          <a:prstGeom prst="rect">
            <a:avLst/>
          </a:prstGeom>
        </p:spPr>
      </p:pic>
      <p:pic>
        <p:nvPicPr>
          <p:cNvPr id="180" name="Picture 6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88335" y="2505075"/>
            <a:ext cx="209550" cy="209550"/>
          </a:xfrm>
          <a:prstGeom prst="rect">
            <a:avLst/>
          </a:prstGeom>
        </p:spPr>
      </p:pic>
      <p:pic>
        <p:nvPicPr>
          <p:cNvPr id="183" name="Picture 7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8335" y="2838450"/>
            <a:ext cx="209550" cy="209550"/>
          </a:xfrm>
          <a:prstGeom prst="rect">
            <a:avLst/>
          </a:prstGeom>
        </p:spPr>
      </p:pic>
      <p:pic>
        <p:nvPicPr>
          <p:cNvPr id="186" name="Picture 7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8335" y="3171825"/>
            <a:ext cx="209550" cy="209550"/>
          </a:xfrm>
          <a:prstGeom prst="rect">
            <a:avLst/>
          </a:prstGeom>
        </p:spPr>
      </p:pic>
      <p:pic>
        <p:nvPicPr>
          <p:cNvPr id="189" name="Picture 7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88335" y="3505200"/>
            <a:ext cx="209550" cy="209550"/>
          </a:xfrm>
          <a:prstGeom prst="rect">
            <a:avLst/>
          </a:prstGeom>
        </p:spPr>
      </p:pic>
      <p:pic>
        <p:nvPicPr>
          <p:cNvPr id="192" name="Picture 8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88335" y="3838575"/>
            <a:ext cx="209550" cy="209550"/>
          </a:xfrm>
          <a:prstGeom prst="rect">
            <a:avLst/>
          </a:prstGeom>
        </p:spPr>
      </p:pic>
      <p:sp>
        <p:nvSpPr>
          <p:cNvPr id="2" name="圓角矩形 1">
            <a:extLst>
              <a:ext uri="{FF2B5EF4-FFF2-40B4-BE49-F238E27FC236}">
                <a16:creationId xmlns:a16="http://schemas.microsoft.com/office/drawing/2014/main" id="{D128391A-4E10-E400-8C48-1815E9FF1417}"/>
              </a:ext>
            </a:extLst>
          </p:cNvPr>
          <p:cNvSpPr/>
          <p:nvPr/>
        </p:nvSpPr>
        <p:spPr>
          <a:xfrm>
            <a:off x="598062" y="5504579"/>
            <a:ext cx="5183612" cy="5410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3C39382-51FA-3CA9-C65F-C375335C29F8}"/>
              </a:ext>
            </a:extLst>
          </p:cNvPr>
          <p:cNvSpPr txBox="1"/>
          <p:nvPr/>
        </p:nvSpPr>
        <p:spPr>
          <a:xfrm>
            <a:off x="646659" y="5530760"/>
            <a:ext cx="1583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尖峰時段結論：</a:t>
            </a: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2ED0B3ED-6E41-8346-4F9C-D2601BB4B47B}"/>
              </a:ext>
            </a:extLst>
          </p:cNvPr>
          <p:cNvSpPr/>
          <p:nvPr/>
        </p:nvSpPr>
        <p:spPr>
          <a:xfrm>
            <a:off x="6332112" y="5538827"/>
            <a:ext cx="5183612" cy="54106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3EC6A9-DB20-56AA-AAAA-D20FF069EE93}"/>
              </a:ext>
            </a:extLst>
          </p:cNvPr>
          <p:cNvSpPr txBox="1"/>
          <p:nvPr/>
        </p:nvSpPr>
        <p:spPr>
          <a:xfrm>
            <a:off x="6380709" y="5565008"/>
            <a:ext cx="1583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</a:t>
            </a:r>
            <a:r>
              <a:rPr lang="zh-TW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防治執法建議</a:t>
            </a:r>
            <a:r>
              <a:rPr lang="en-US" altLang="zh-TW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</a:t>
            </a:r>
            <a:endParaRPr lang="zh-TW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8960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5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96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0416" y="457200"/>
            <a:ext cx="1475333" cy="266700"/>
          </a:xfrm>
          <a:prstGeom prst="rect">
            <a:avLst/>
          </a:prstGeom>
        </p:spPr>
      </p:pic>
      <p:pic>
        <p:nvPicPr>
          <p:cNvPr id="97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62050"/>
            <a:ext cx="5505450" cy="5029200"/>
          </a:xfrm>
          <a:prstGeom prst="rect">
            <a:avLst/>
          </a:prstGeom>
        </p:spPr>
      </p:pic>
      <p:pic>
        <p:nvPicPr>
          <p:cNvPr id="98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162050"/>
            <a:ext cx="5505450" cy="5029200"/>
          </a:xfrm>
          <a:prstGeom prst="rect">
            <a:avLst/>
          </a:prstGeom>
        </p:spPr>
      </p:pic>
      <p:pic>
        <p:nvPicPr>
          <p:cNvPr id="101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1790700"/>
            <a:ext cx="2495550" cy="1209675"/>
          </a:xfrm>
          <a:prstGeom prst="rect">
            <a:avLst/>
          </a:prstGeom>
        </p:spPr>
      </p:pic>
      <p:pic>
        <p:nvPicPr>
          <p:cNvPr id="102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0175" y="1790700"/>
            <a:ext cx="2495550" cy="1209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0A1DE5-CF4B-4D99-A141-71B73230DE72}"/>
              </a:ext>
            </a:extLst>
          </p:cNvPr>
          <p:cNvSpPr>
            <a:spLocks noGrp="1"/>
          </p:cNvSpPr>
          <p:nvPr/>
        </p:nvSpPr>
        <p:spPr>
          <a:xfrm>
            <a:off x="798016" y="381000"/>
            <a:ext cx="448056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400" b="1" i="0" u="none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五、六、事故年齡層與車種分析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F91FED-2A8C-4065-AA5C-8B657B878A48}"/>
              </a:ext>
            </a:extLst>
          </p:cNvPr>
          <p:cNvSpPr>
            <a:spLocks noGrp="1"/>
          </p:cNvSpPr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板橋分局交通安全週報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B9254-37CD-49E7-8C4E-EDFA472839B4}"/>
              </a:ext>
            </a:extLst>
          </p:cNvPr>
          <p:cNvSpPr>
            <a:spLocks noGrp="1"/>
          </p:cNvSpPr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第 6 頁 / 共 8 頁</a:t>
            </a:r>
          </a:p>
        </p:txBody>
      </p:sp>
      <p:pic>
        <p:nvPicPr>
          <p:cNvPr id="106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pic>
        <p:nvPicPr>
          <p:cNvPr id="107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64241" y="523875"/>
            <a:ext cx="103733" cy="1333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53E2B1-F8A4-4721-991D-81D4B83B59F2}"/>
              </a:ext>
            </a:extLst>
          </p:cNvPr>
          <p:cNvSpPr>
            <a:spLocks noGrp="1"/>
          </p:cNvSpPr>
          <p:nvPr/>
        </p:nvSpPr>
        <p:spPr>
          <a:xfrm>
            <a:off x="885973" y="1362075"/>
            <a:ext cx="489570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事故當事人年齡層分布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CA4B63-1669-42EE-BF66-A6E07A0FF62A}"/>
              </a:ext>
            </a:extLst>
          </p:cNvPr>
          <p:cNvSpPr>
            <a:spLocks noGrp="1"/>
          </p:cNvSpPr>
          <p:nvPr/>
        </p:nvSpPr>
        <p:spPr>
          <a:xfrm>
            <a:off x="676275" y="1666875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10" name="Table 17"/>
          <p:cNvGraphicFramePr/>
          <p:nvPr/>
        </p:nvGraphicFramePr>
        <p:xfrm>
          <a:off x="676275" y="1790700"/>
          <a:ext cx="51053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年齡區間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件數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占比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風險等級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{{AGEN1}}件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991B1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{{AGERISK1}}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{{AGEN2}}件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 i="0" u="none">
                          <a:solidFill>
                            <a:srgbClr val="D97706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{{AGERISK2}}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{{AGEN3}}件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 i="0" u="none">
                          <a:solidFill>
                            <a:srgbClr val="D97706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{{AGERISK3}}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{{AGEN4}}件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{{AGERISK4}}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{{AGEN5}}件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{{AGERISK5}}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A09519-9FFE-4CDC-801A-345011E501A2}"/>
              </a:ext>
            </a:extLst>
          </p:cNvPr>
          <p:cNvSpPr>
            <a:spLocks noGrp="1"/>
          </p:cNvSpPr>
          <p:nvPr/>
        </p:nvSpPr>
        <p:spPr>
          <a:xfrm>
            <a:off x="6620023" y="1377263"/>
            <a:ext cx="4895701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 dirty="0" err="1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事故參與車種結構分析</a:t>
            </a:r>
            <a:r>
              <a:rPr lang="zh-TW" altLang="en-US" sz="1350" b="1" i="0" u="none" dirty="0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（這邊預設是以汽機車）</a:t>
            </a:r>
            <a:endParaRPr sz="1350" b="1" i="0" u="none" dirty="0">
              <a:solidFill>
                <a:srgbClr val="1E3A8A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6C43DE-8048-4293-9702-AED93DBE3BDB}"/>
              </a:ext>
            </a:extLst>
          </p:cNvPr>
          <p:cNvSpPr>
            <a:spLocks noGrp="1"/>
          </p:cNvSpPr>
          <p:nvPr/>
        </p:nvSpPr>
        <p:spPr>
          <a:xfrm>
            <a:off x="6410325" y="1666875"/>
            <a:ext cx="5105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14" name="Table 21"/>
          <p:cNvGraphicFramePr/>
          <p:nvPr/>
        </p:nvGraphicFramePr>
        <p:xfrm>
          <a:off x="6410325" y="3152775"/>
          <a:ext cx="5105398" cy="619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5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其他車種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慢車(含微電車)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小貨車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大貨車/客車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{{V3N}}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{{V4N}}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{{V5N}}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{{V6N}}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6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pic>
        <p:nvPicPr>
          <p:cNvPr id="117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1390650"/>
            <a:ext cx="133498" cy="17145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FEBC6EF-424C-4798-8BDE-362BBA108CF5}"/>
              </a:ext>
            </a:extLst>
          </p:cNvPr>
          <p:cNvSpPr>
            <a:spLocks noGrp="1"/>
          </p:cNvSpPr>
          <p:nvPr/>
        </p:nvSpPr>
        <p:spPr>
          <a:xfrm>
            <a:off x="676275" y="2424112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E3BDDA-F998-4E79-A57E-E315C7ED0964}"/>
              </a:ext>
            </a:extLst>
          </p:cNvPr>
          <p:cNvSpPr>
            <a:spLocks noGrp="1"/>
          </p:cNvSpPr>
          <p:nvPr/>
        </p:nvSpPr>
        <p:spPr>
          <a:xfrm>
            <a:off x="2028973" y="2424112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7E33AE-7489-4AE4-B64C-A6077E8E321C}"/>
              </a:ext>
            </a:extLst>
          </p:cNvPr>
          <p:cNvSpPr>
            <a:spLocks noGrp="1"/>
          </p:cNvSpPr>
          <p:nvPr/>
        </p:nvSpPr>
        <p:spPr>
          <a:xfrm>
            <a:off x="3240137" y="2424112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FBC300-F166-4A77-909E-6600CA499455}"/>
              </a:ext>
            </a:extLst>
          </p:cNvPr>
          <p:cNvSpPr>
            <a:spLocks noGrp="1"/>
          </p:cNvSpPr>
          <p:nvPr/>
        </p:nvSpPr>
        <p:spPr>
          <a:xfrm>
            <a:off x="4425701" y="2424112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CE2CA0-6B16-4C8F-AD37-4C63E2BCCA58}"/>
              </a:ext>
            </a:extLst>
          </p:cNvPr>
          <p:cNvSpPr>
            <a:spLocks noGrp="1"/>
          </p:cNvSpPr>
          <p:nvPr/>
        </p:nvSpPr>
        <p:spPr>
          <a:xfrm>
            <a:off x="676275" y="2719387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83FF74-5A3C-460D-919C-19503BF371AA}"/>
              </a:ext>
            </a:extLst>
          </p:cNvPr>
          <p:cNvSpPr>
            <a:spLocks noGrp="1"/>
          </p:cNvSpPr>
          <p:nvPr/>
        </p:nvSpPr>
        <p:spPr>
          <a:xfrm>
            <a:off x="2028973" y="2719387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7F9879-2D5B-4C70-8D0F-98FAB7BEA892}"/>
              </a:ext>
            </a:extLst>
          </p:cNvPr>
          <p:cNvSpPr>
            <a:spLocks noGrp="1"/>
          </p:cNvSpPr>
          <p:nvPr/>
        </p:nvSpPr>
        <p:spPr>
          <a:xfrm>
            <a:off x="3240137" y="2719387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5DEB16-AC22-4700-84E8-E7784FE7B12D}"/>
              </a:ext>
            </a:extLst>
          </p:cNvPr>
          <p:cNvSpPr>
            <a:spLocks noGrp="1"/>
          </p:cNvSpPr>
          <p:nvPr/>
        </p:nvSpPr>
        <p:spPr>
          <a:xfrm>
            <a:off x="4425701" y="2719387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783594-684E-4294-B190-9F551BDE5509}"/>
              </a:ext>
            </a:extLst>
          </p:cNvPr>
          <p:cNvSpPr>
            <a:spLocks noGrp="1"/>
          </p:cNvSpPr>
          <p:nvPr/>
        </p:nvSpPr>
        <p:spPr>
          <a:xfrm>
            <a:off x="676275" y="3014662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7B24A2-485F-47AF-834A-211F0CD8CB2D}"/>
              </a:ext>
            </a:extLst>
          </p:cNvPr>
          <p:cNvSpPr>
            <a:spLocks noGrp="1"/>
          </p:cNvSpPr>
          <p:nvPr/>
        </p:nvSpPr>
        <p:spPr>
          <a:xfrm>
            <a:off x="2028973" y="3014662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D65150-ABB6-4918-98F2-8801A35D849E}"/>
              </a:ext>
            </a:extLst>
          </p:cNvPr>
          <p:cNvSpPr>
            <a:spLocks noGrp="1"/>
          </p:cNvSpPr>
          <p:nvPr/>
        </p:nvSpPr>
        <p:spPr>
          <a:xfrm>
            <a:off x="3240137" y="3014662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2322BC-7953-4AAE-A37E-FCB799B9B6DB}"/>
              </a:ext>
            </a:extLst>
          </p:cNvPr>
          <p:cNvSpPr>
            <a:spLocks noGrp="1"/>
          </p:cNvSpPr>
          <p:nvPr/>
        </p:nvSpPr>
        <p:spPr>
          <a:xfrm>
            <a:off x="4425701" y="3014662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D51D86-DA1B-4132-BFAE-586291C99EB9}"/>
              </a:ext>
            </a:extLst>
          </p:cNvPr>
          <p:cNvSpPr>
            <a:spLocks noGrp="1"/>
          </p:cNvSpPr>
          <p:nvPr/>
        </p:nvSpPr>
        <p:spPr>
          <a:xfrm>
            <a:off x="676275" y="3309937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D7FA8A-C3DB-4EFC-BE45-5C5150FAC7A0}"/>
              </a:ext>
            </a:extLst>
          </p:cNvPr>
          <p:cNvSpPr>
            <a:spLocks noGrp="1"/>
          </p:cNvSpPr>
          <p:nvPr/>
        </p:nvSpPr>
        <p:spPr>
          <a:xfrm>
            <a:off x="2028973" y="3309937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A15CDB-63CD-4DB3-B750-FDAF99BC5839}"/>
              </a:ext>
            </a:extLst>
          </p:cNvPr>
          <p:cNvSpPr>
            <a:spLocks noGrp="1"/>
          </p:cNvSpPr>
          <p:nvPr/>
        </p:nvSpPr>
        <p:spPr>
          <a:xfrm>
            <a:off x="3240137" y="3309937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E9300C-E2FB-4317-A22B-E4429CF91E56}"/>
              </a:ext>
            </a:extLst>
          </p:cNvPr>
          <p:cNvSpPr>
            <a:spLocks noGrp="1"/>
          </p:cNvSpPr>
          <p:nvPr/>
        </p:nvSpPr>
        <p:spPr>
          <a:xfrm>
            <a:off x="4425701" y="3309937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BF15E1A-B783-459C-996F-11D7A8204AC6}"/>
              </a:ext>
            </a:extLst>
          </p:cNvPr>
          <p:cNvSpPr>
            <a:spLocks noGrp="1"/>
          </p:cNvSpPr>
          <p:nvPr/>
        </p:nvSpPr>
        <p:spPr>
          <a:xfrm>
            <a:off x="676275" y="3605212"/>
            <a:ext cx="1352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0E9262-BD15-450B-BC3E-FC074E533214}"/>
              </a:ext>
            </a:extLst>
          </p:cNvPr>
          <p:cNvSpPr>
            <a:spLocks noGrp="1"/>
          </p:cNvSpPr>
          <p:nvPr/>
        </p:nvSpPr>
        <p:spPr>
          <a:xfrm>
            <a:off x="2028973" y="3605212"/>
            <a:ext cx="1211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593059-591B-468F-9332-1E3CE28DDE28}"/>
              </a:ext>
            </a:extLst>
          </p:cNvPr>
          <p:cNvSpPr>
            <a:spLocks noGrp="1"/>
          </p:cNvSpPr>
          <p:nvPr/>
        </p:nvSpPr>
        <p:spPr>
          <a:xfrm>
            <a:off x="3240137" y="3605212"/>
            <a:ext cx="11855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6B79DF-6920-415B-BB61-566BF2B7FA18}"/>
              </a:ext>
            </a:extLst>
          </p:cNvPr>
          <p:cNvSpPr>
            <a:spLocks noGrp="1"/>
          </p:cNvSpPr>
          <p:nvPr/>
        </p:nvSpPr>
        <p:spPr>
          <a:xfrm>
            <a:off x="4425701" y="3605212"/>
            <a:ext cx="1355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38" name="Picture 4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9100" y="1914525"/>
            <a:ext cx="177849" cy="2286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52CCB9B-843B-46DD-AB37-2450ABADD97C}"/>
              </a:ext>
            </a:extLst>
          </p:cNvPr>
          <p:cNvSpPr>
            <a:spLocks noGrp="1"/>
          </p:cNvSpPr>
          <p:nvPr/>
        </p:nvSpPr>
        <p:spPr>
          <a:xfrm>
            <a:off x="6534150" y="2181225"/>
            <a:ext cx="2247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75" b="0" i="0" u="none" dirty="0" err="1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機車事故</a:t>
            </a:r>
            <a:endParaRPr sz="975" b="0" i="0" u="none" dirty="0">
              <a:solidFill>
                <a:srgbClr val="64748B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88989D-80D1-4CB8-B39B-D8CED57454B2}"/>
              </a:ext>
            </a:extLst>
          </p:cNvPr>
          <p:cNvSpPr>
            <a:spLocks noGrp="1"/>
          </p:cNvSpPr>
          <p:nvPr/>
        </p:nvSpPr>
        <p:spPr>
          <a:xfrm>
            <a:off x="6534150" y="2352675"/>
            <a:ext cx="2247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100" b="0" i="0" u="none" dirty="0">
                <a:solidFill>
                  <a:srgbClr val="EF4444"/>
                </a:solidFill>
                <a:latin typeface="Noto Sans TC Black"/>
                <a:ea typeface="Noto Sans TC Black"/>
                <a:cs typeface="Noto Sans TC Black"/>
              </a:rPr>
              <a:t>{{V1N}}</a:t>
            </a:r>
            <a:r>
              <a:rPr sz="2100" b="0" i="0" u="none" dirty="0" err="1">
                <a:solidFill>
                  <a:srgbClr val="EF4444"/>
                </a:solidFill>
                <a:latin typeface="Noto Sans TC Black"/>
                <a:ea typeface="Noto Sans TC Black"/>
                <a:cs typeface="Noto Sans TC Black"/>
              </a:rPr>
              <a:t>件</a:t>
            </a:r>
            <a:endParaRPr sz="2100" b="0" i="0" u="none" dirty="0">
              <a:solidFill>
                <a:srgbClr val="EF4444"/>
              </a:solidFill>
              <a:latin typeface="Noto Sans TC Black"/>
              <a:ea typeface="Noto Sans TC Black"/>
              <a:cs typeface="Noto Sans TC Black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8EBD00-6416-4646-ABFB-4429F951CB91}"/>
              </a:ext>
            </a:extLst>
          </p:cNvPr>
          <p:cNvSpPr>
            <a:spLocks noGrp="1"/>
          </p:cNvSpPr>
          <p:nvPr/>
        </p:nvSpPr>
        <p:spPr>
          <a:xfrm>
            <a:off x="6534150" y="2714625"/>
            <a:ext cx="2247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1" i="0" u="none">
                <a:solidFill>
                  <a:srgbClr val="991B1B"/>
                </a:solidFill>
                <a:latin typeface="Noto Sans TC"/>
                <a:ea typeface="Noto Sans TC"/>
                <a:cs typeface="Noto Sans TC"/>
              </a:rPr>
              <a:t>占比{{V1R}}</a:t>
            </a:r>
          </a:p>
        </p:txBody>
      </p:sp>
      <p:pic>
        <p:nvPicPr>
          <p:cNvPr id="142" name="Picture 4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78950" y="1914525"/>
            <a:ext cx="177849" cy="2286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088534D-7188-4205-AE07-EC5D11E39E4F}"/>
              </a:ext>
            </a:extLst>
          </p:cNvPr>
          <p:cNvSpPr>
            <a:spLocks noGrp="1"/>
          </p:cNvSpPr>
          <p:nvPr/>
        </p:nvSpPr>
        <p:spPr>
          <a:xfrm>
            <a:off x="9144000" y="2181225"/>
            <a:ext cx="2247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75" b="0" i="0" u="none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小客車事故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EC0754-1365-432A-8449-6BDE1E047539}"/>
              </a:ext>
            </a:extLst>
          </p:cNvPr>
          <p:cNvSpPr>
            <a:spLocks noGrp="1"/>
          </p:cNvSpPr>
          <p:nvPr/>
        </p:nvSpPr>
        <p:spPr>
          <a:xfrm>
            <a:off x="9144000" y="2352675"/>
            <a:ext cx="2247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100" b="0" i="0" u="none">
                <a:solidFill>
                  <a:srgbClr val="0F172A"/>
                </a:solidFill>
                <a:latin typeface="Noto Sans TC Black"/>
                <a:ea typeface="Noto Sans TC Black"/>
                <a:cs typeface="Noto Sans TC Black"/>
              </a:rPr>
              <a:t>{{V2N}}件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CEBAEB-C580-4B02-AD59-2AF5DBFB1ADD}"/>
              </a:ext>
            </a:extLst>
          </p:cNvPr>
          <p:cNvSpPr>
            <a:spLocks noGrp="1"/>
          </p:cNvSpPr>
          <p:nvPr/>
        </p:nvSpPr>
        <p:spPr>
          <a:xfrm>
            <a:off x="9144000" y="2714625"/>
            <a:ext cx="2247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900" b="1" i="0" u="none">
                <a:solidFill>
                  <a:srgbClr val="64748B"/>
                </a:solidFill>
                <a:latin typeface="Noto Sans TC"/>
                <a:ea typeface="Noto Sans TC"/>
                <a:cs typeface="Noto Sans TC"/>
              </a:rPr>
              <a:t>占比{{V2R}}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EEB68A5-0D09-434B-BE17-041C09E636CE}"/>
              </a:ext>
            </a:extLst>
          </p:cNvPr>
          <p:cNvSpPr>
            <a:spLocks noGrp="1"/>
          </p:cNvSpPr>
          <p:nvPr/>
        </p:nvSpPr>
        <p:spPr>
          <a:xfrm>
            <a:off x="6410325" y="3757612"/>
            <a:ext cx="10793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7C26EEF-B344-41CF-9DDF-D3094F500EE0}"/>
              </a:ext>
            </a:extLst>
          </p:cNvPr>
          <p:cNvSpPr>
            <a:spLocks noGrp="1"/>
          </p:cNvSpPr>
          <p:nvPr/>
        </p:nvSpPr>
        <p:spPr>
          <a:xfrm>
            <a:off x="7489626" y="3757612"/>
            <a:ext cx="15991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34D409-0CFE-4ECB-A452-9565BC063FCA}"/>
              </a:ext>
            </a:extLst>
          </p:cNvPr>
          <p:cNvSpPr>
            <a:spLocks noGrp="1"/>
          </p:cNvSpPr>
          <p:nvPr/>
        </p:nvSpPr>
        <p:spPr>
          <a:xfrm>
            <a:off x="9088784" y="3757612"/>
            <a:ext cx="10980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CF1034A-D936-49C9-884B-9EBB508B5842}"/>
              </a:ext>
            </a:extLst>
          </p:cNvPr>
          <p:cNvSpPr>
            <a:spLocks noGrp="1"/>
          </p:cNvSpPr>
          <p:nvPr/>
        </p:nvSpPr>
        <p:spPr>
          <a:xfrm>
            <a:off x="10186838" y="3757612"/>
            <a:ext cx="1328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59FDE781-3EF6-3B83-E0D2-B7E6CAEEE103}"/>
              </a:ext>
            </a:extLst>
          </p:cNvPr>
          <p:cNvSpPr/>
          <p:nvPr/>
        </p:nvSpPr>
        <p:spPr>
          <a:xfrm>
            <a:off x="598062" y="4658485"/>
            <a:ext cx="5183612" cy="1408940"/>
          </a:xfrm>
          <a:prstGeom prst="roundRect">
            <a:avLst/>
          </a:prstGeom>
          <a:solidFill>
            <a:srgbClr val="F6F3D9"/>
          </a:solidFill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C54F723-A70B-BB1C-7BC0-7F168835CF5F}"/>
              </a:ext>
            </a:extLst>
          </p:cNvPr>
          <p:cNvSpPr txBox="1"/>
          <p:nvPr/>
        </p:nvSpPr>
        <p:spPr>
          <a:xfrm>
            <a:off x="743024" y="4776787"/>
            <a:ext cx="1583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</a:t>
            </a:r>
            <a:r>
              <a:rPr lang="zh-TW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年齡分析結論</a:t>
            </a:r>
            <a:r>
              <a:rPr lang="en-US" altLang="zh-TW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</a:t>
            </a:r>
            <a:endParaRPr lang="zh-TW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140B44A-4F29-EB10-9A81-4DCD5AC864EF}"/>
              </a:ext>
            </a:extLst>
          </p:cNvPr>
          <p:cNvSpPr/>
          <p:nvPr/>
        </p:nvSpPr>
        <p:spPr>
          <a:xfrm>
            <a:off x="6371218" y="4648580"/>
            <a:ext cx="5183612" cy="14089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6A2343B-37E9-F691-C0DB-5AD94DE15F97}"/>
              </a:ext>
            </a:extLst>
          </p:cNvPr>
          <p:cNvSpPr txBox="1"/>
          <p:nvPr/>
        </p:nvSpPr>
        <p:spPr>
          <a:xfrm>
            <a:off x="6520887" y="4733353"/>
            <a:ext cx="1583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</a:t>
            </a:r>
            <a:r>
              <a:rPr lang="zh-TW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防治對象研判結論</a:t>
            </a:r>
            <a:r>
              <a:rPr lang="en-US" altLang="zh-TW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</a:t>
            </a:r>
            <a:endParaRPr lang="zh-TW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203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7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88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116" y="457200"/>
            <a:ext cx="1208633" cy="266700"/>
          </a:xfrm>
          <a:prstGeom prst="rect">
            <a:avLst/>
          </a:prstGeom>
        </p:spPr>
      </p:pic>
      <p:pic>
        <p:nvPicPr>
          <p:cNvPr id="89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62050"/>
            <a:ext cx="11239500" cy="5029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B7F252-7864-4299-94A9-A977226F64AC}"/>
              </a:ext>
            </a:extLst>
          </p:cNvPr>
          <p:cNvSpPr>
            <a:spLocks noGrp="1"/>
          </p:cNvSpPr>
          <p:nvPr/>
        </p:nvSpPr>
        <p:spPr>
          <a:xfrm>
            <a:off x="798016" y="381000"/>
            <a:ext cx="4889673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400" b="1" i="0" u="none">
                <a:solidFill>
                  <a:srgbClr val="EF4444"/>
                </a:solidFill>
                <a:latin typeface="Noto Sans TC"/>
                <a:ea typeface="Noto Sans TC"/>
                <a:cs typeface="Noto Sans TC"/>
              </a:rPr>
              <a:t>七、A1類致命事故案件明細一覽表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21A07-E68E-4D78-A5D5-0EC4189AB475}"/>
              </a:ext>
            </a:extLst>
          </p:cNvPr>
          <p:cNvSpPr>
            <a:spLocks noGrp="1"/>
          </p:cNvSpPr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板橋分局交通安全週報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CAFC5-D797-4FEF-9115-B59BFD9D52C4}"/>
              </a:ext>
            </a:extLst>
          </p:cNvPr>
          <p:cNvSpPr>
            <a:spLocks noGrp="1"/>
          </p:cNvSpPr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第 7 頁 / 共 8 頁</a:t>
            </a:r>
          </a:p>
        </p:txBody>
      </p:sp>
      <p:pic>
        <p:nvPicPr>
          <p:cNvPr id="94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graphicFrame>
        <p:nvGraphicFramePr>
          <p:cNvPr id="96" name="Table 11"/>
          <p:cNvGraphicFramePr/>
          <p:nvPr/>
        </p:nvGraphicFramePr>
        <p:xfrm>
          <a:off x="600075" y="1285875"/>
          <a:ext cx="10991846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7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8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8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0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編號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發生時間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發生地點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肇因研判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車種別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 i="0" u="non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死亡類別 / 備註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{{A1T1}}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{{A1L1}}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{{A1C1}}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{{A1V1}}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{{A1F1}} / {{A1N1}}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{{A1T2}}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{{A1L2}}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{{A1C2}}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{{A1V2}}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{{A1F2}} / {{A1N2}}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{{A1T3}}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{{A1L3}}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{{A1C3}}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{{A1V3}}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{{A1F3}} / {{A1N3}}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{{A1T4}}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{{A1L4}}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{{A1C4}}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{{A1V4}}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{{A1F4}} / {{A1N4}}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{{A1T5}}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{{A1L5}}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{{A1C5}}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{{A1V5}}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{{A1F5}} / {{A1N5}}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{{A1T6}}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{{A1L6}}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{{A1C6}}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{{A1V6}}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{{A1F6}} / {{A1N6}}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{{A1T7}}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{{A1L7}}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{{A1C7}}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{{A1V7}}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{{A1F7}} / {{A1N7}}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BEC99ED5-BFAA-4487-BCAD-279A0F68EFB7}"/>
              </a:ext>
            </a:extLst>
          </p:cNvPr>
          <p:cNvSpPr>
            <a:spLocks noGrp="1"/>
          </p:cNvSpPr>
          <p:nvPr/>
        </p:nvSpPr>
        <p:spPr>
          <a:xfrm>
            <a:off x="600075" y="188118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D48A2-54D3-4386-BA4A-55D52F9C3E1A}"/>
              </a:ext>
            </a:extLst>
          </p:cNvPr>
          <p:cNvSpPr>
            <a:spLocks noGrp="1"/>
          </p:cNvSpPr>
          <p:nvPr/>
        </p:nvSpPr>
        <p:spPr>
          <a:xfrm>
            <a:off x="1149548" y="188118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36B46D-42C5-4BB1-93BF-931CFB3EBFB4}"/>
              </a:ext>
            </a:extLst>
          </p:cNvPr>
          <p:cNvSpPr>
            <a:spLocks noGrp="1"/>
          </p:cNvSpPr>
          <p:nvPr/>
        </p:nvSpPr>
        <p:spPr>
          <a:xfrm>
            <a:off x="2468463" y="188118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381365-C510-4A49-9C76-2893C8122FCF}"/>
              </a:ext>
            </a:extLst>
          </p:cNvPr>
          <p:cNvSpPr>
            <a:spLocks noGrp="1"/>
          </p:cNvSpPr>
          <p:nvPr/>
        </p:nvSpPr>
        <p:spPr>
          <a:xfrm>
            <a:off x="4886622" y="188118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6058F0-0B5F-4650-A0E5-3354F6D4749A}"/>
              </a:ext>
            </a:extLst>
          </p:cNvPr>
          <p:cNvSpPr>
            <a:spLocks noGrp="1"/>
          </p:cNvSpPr>
          <p:nvPr/>
        </p:nvSpPr>
        <p:spPr>
          <a:xfrm>
            <a:off x="7964239" y="188118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F6F3BE-29EA-4BD6-9948-BE91FF1D1FE3}"/>
              </a:ext>
            </a:extLst>
          </p:cNvPr>
          <p:cNvSpPr>
            <a:spLocks noGrp="1"/>
          </p:cNvSpPr>
          <p:nvPr/>
        </p:nvSpPr>
        <p:spPr>
          <a:xfrm>
            <a:off x="9612957" y="188118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5D6B93-A58D-44A0-9569-B04C2DA4B79E}"/>
              </a:ext>
            </a:extLst>
          </p:cNvPr>
          <p:cNvSpPr>
            <a:spLocks noGrp="1"/>
          </p:cNvSpPr>
          <p:nvPr/>
        </p:nvSpPr>
        <p:spPr>
          <a:xfrm>
            <a:off x="600075" y="216693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EDB172-6DC7-41EB-A1C9-4A5E57262C30}"/>
              </a:ext>
            </a:extLst>
          </p:cNvPr>
          <p:cNvSpPr>
            <a:spLocks noGrp="1"/>
          </p:cNvSpPr>
          <p:nvPr/>
        </p:nvSpPr>
        <p:spPr>
          <a:xfrm>
            <a:off x="1149548" y="216693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9A9432-DD24-461B-9F92-90C003E51CE6}"/>
              </a:ext>
            </a:extLst>
          </p:cNvPr>
          <p:cNvSpPr>
            <a:spLocks noGrp="1"/>
          </p:cNvSpPr>
          <p:nvPr/>
        </p:nvSpPr>
        <p:spPr>
          <a:xfrm>
            <a:off x="2468463" y="216693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E0086F-E08C-43F2-A134-87FEF19A5819}"/>
              </a:ext>
            </a:extLst>
          </p:cNvPr>
          <p:cNvSpPr>
            <a:spLocks noGrp="1"/>
          </p:cNvSpPr>
          <p:nvPr/>
        </p:nvSpPr>
        <p:spPr>
          <a:xfrm>
            <a:off x="4886622" y="216693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E55012-0BA4-4CCF-B8D5-52A826C17B7D}"/>
              </a:ext>
            </a:extLst>
          </p:cNvPr>
          <p:cNvSpPr>
            <a:spLocks noGrp="1"/>
          </p:cNvSpPr>
          <p:nvPr/>
        </p:nvSpPr>
        <p:spPr>
          <a:xfrm>
            <a:off x="7964239" y="216693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CB469D-F8F7-4562-B220-41086E20C582}"/>
              </a:ext>
            </a:extLst>
          </p:cNvPr>
          <p:cNvSpPr>
            <a:spLocks noGrp="1"/>
          </p:cNvSpPr>
          <p:nvPr/>
        </p:nvSpPr>
        <p:spPr>
          <a:xfrm>
            <a:off x="9612957" y="216693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3340FD-57F4-4FE6-8553-2F5D72B76F7C}"/>
              </a:ext>
            </a:extLst>
          </p:cNvPr>
          <p:cNvSpPr>
            <a:spLocks noGrp="1"/>
          </p:cNvSpPr>
          <p:nvPr/>
        </p:nvSpPr>
        <p:spPr>
          <a:xfrm>
            <a:off x="600075" y="245268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2CEFC9-6FB6-4E45-8366-585B61B8F396}"/>
              </a:ext>
            </a:extLst>
          </p:cNvPr>
          <p:cNvSpPr>
            <a:spLocks noGrp="1"/>
          </p:cNvSpPr>
          <p:nvPr/>
        </p:nvSpPr>
        <p:spPr>
          <a:xfrm>
            <a:off x="1149548" y="245268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E41346-C313-400E-9610-1FE10F1EDF33}"/>
              </a:ext>
            </a:extLst>
          </p:cNvPr>
          <p:cNvSpPr>
            <a:spLocks noGrp="1"/>
          </p:cNvSpPr>
          <p:nvPr/>
        </p:nvSpPr>
        <p:spPr>
          <a:xfrm>
            <a:off x="2468463" y="245268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294E4B-DFC6-41FD-8B81-8D0F0F2099C4}"/>
              </a:ext>
            </a:extLst>
          </p:cNvPr>
          <p:cNvSpPr>
            <a:spLocks noGrp="1"/>
          </p:cNvSpPr>
          <p:nvPr/>
        </p:nvSpPr>
        <p:spPr>
          <a:xfrm>
            <a:off x="4886622" y="245268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A37808-3CA9-4BAA-BBD8-43FA68803724}"/>
              </a:ext>
            </a:extLst>
          </p:cNvPr>
          <p:cNvSpPr>
            <a:spLocks noGrp="1"/>
          </p:cNvSpPr>
          <p:nvPr/>
        </p:nvSpPr>
        <p:spPr>
          <a:xfrm>
            <a:off x="7964239" y="245268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31D332-AD8D-4169-A7DD-F8238879C63D}"/>
              </a:ext>
            </a:extLst>
          </p:cNvPr>
          <p:cNvSpPr>
            <a:spLocks noGrp="1"/>
          </p:cNvSpPr>
          <p:nvPr/>
        </p:nvSpPr>
        <p:spPr>
          <a:xfrm>
            <a:off x="9612957" y="245268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3B259B-735B-4B5B-A409-961E31DB30A4}"/>
              </a:ext>
            </a:extLst>
          </p:cNvPr>
          <p:cNvSpPr>
            <a:spLocks noGrp="1"/>
          </p:cNvSpPr>
          <p:nvPr/>
        </p:nvSpPr>
        <p:spPr>
          <a:xfrm>
            <a:off x="600075" y="273843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6E8BFD-4602-43E2-91FA-FC859B28E6CC}"/>
              </a:ext>
            </a:extLst>
          </p:cNvPr>
          <p:cNvSpPr>
            <a:spLocks noGrp="1"/>
          </p:cNvSpPr>
          <p:nvPr/>
        </p:nvSpPr>
        <p:spPr>
          <a:xfrm>
            <a:off x="1149548" y="273843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DD586A-3B8E-434F-AE72-CF8AB75FD53D}"/>
              </a:ext>
            </a:extLst>
          </p:cNvPr>
          <p:cNvSpPr>
            <a:spLocks noGrp="1"/>
          </p:cNvSpPr>
          <p:nvPr/>
        </p:nvSpPr>
        <p:spPr>
          <a:xfrm>
            <a:off x="2468463" y="273843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8D303A-D607-40FA-B036-909FAC4B4AFA}"/>
              </a:ext>
            </a:extLst>
          </p:cNvPr>
          <p:cNvSpPr>
            <a:spLocks noGrp="1"/>
          </p:cNvSpPr>
          <p:nvPr/>
        </p:nvSpPr>
        <p:spPr>
          <a:xfrm>
            <a:off x="4886622" y="273843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160858-D6BA-43A6-951A-DFDBC1706C94}"/>
              </a:ext>
            </a:extLst>
          </p:cNvPr>
          <p:cNvSpPr>
            <a:spLocks noGrp="1"/>
          </p:cNvSpPr>
          <p:nvPr/>
        </p:nvSpPr>
        <p:spPr>
          <a:xfrm>
            <a:off x="7964239" y="273843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FE4E09-B623-437C-9638-6226AB392CDA}"/>
              </a:ext>
            </a:extLst>
          </p:cNvPr>
          <p:cNvSpPr>
            <a:spLocks noGrp="1"/>
          </p:cNvSpPr>
          <p:nvPr/>
        </p:nvSpPr>
        <p:spPr>
          <a:xfrm>
            <a:off x="9612957" y="273843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2FFB1F-5152-49E9-8AB8-D48AA2CD5615}"/>
              </a:ext>
            </a:extLst>
          </p:cNvPr>
          <p:cNvSpPr>
            <a:spLocks noGrp="1"/>
          </p:cNvSpPr>
          <p:nvPr/>
        </p:nvSpPr>
        <p:spPr>
          <a:xfrm>
            <a:off x="600075" y="302418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5732C2-584A-47CF-AA5F-B0D024FF2870}"/>
              </a:ext>
            </a:extLst>
          </p:cNvPr>
          <p:cNvSpPr>
            <a:spLocks noGrp="1"/>
          </p:cNvSpPr>
          <p:nvPr/>
        </p:nvSpPr>
        <p:spPr>
          <a:xfrm>
            <a:off x="1149548" y="302418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445DC9-71A5-40E9-B63B-AB46562E2A6D}"/>
              </a:ext>
            </a:extLst>
          </p:cNvPr>
          <p:cNvSpPr>
            <a:spLocks noGrp="1"/>
          </p:cNvSpPr>
          <p:nvPr/>
        </p:nvSpPr>
        <p:spPr>
          <a:xfrm>
            <a:off x="2468463" y="302418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D3C20E-CEA8-4CD9-A0AC-CA4870176976}"/>
              </a:ext>
            </a:extLst>
          </p:cNvPr>
          <p:cNvSpPr>
            <a:spLocks noGrp="1"/>
          </p:cNvSpPr>
          <p:nvPr/>
        </p:nvSpPr>
        <p:spPr>
          <a:xfrm>
            <a:off x="4886622" y="302418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5C11311-EF55-4917-86FD-D5CDD4799928}"/>
              </a:ext>
            </a:extLst>
          </p:cNvPr>
          <p:cNvSpPr>
            <a:spLocks noGrp="1"/>
          </p:cNvSpPr>
          <p:nvPr/>
        </p:nvSpPr>
        <p:spPr>
          <a:xfrm>
            <a:off x="7964239" y="302418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468EF3-5539-4423-B5AB-B826C7547ACB}"/>
              </a:ext>
            </a:extLst>
          </p:cNvPr>
          <p:cNvSpPr>
            <a:spLocks noGrp="1"/>
          </p:cNvSpPr>
          <p:nvPr/>
        </p:nvSpPr>
        <p:spPr>
          <a:xfrm>
            <a:off x="9612957" y="302418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7CE958-7561-495D-B3D3-57E690E72DFD}"/>
              </a:ext>
            </a:extLst>
          </p:cNvPr>
          <p:cNvSpPr>
            <a:spLocks noGrp="1"/>
          </p:cNvSpPr>
          <p:nvPr/>
        </p:nvSpPr>
        <p:spPr>
          <a:xfrm>
            <a:off x="600075" y="330993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CA4043-A060-4C39-898D-17717A8AF13B}"/>
              </a:ext>
            </a:extLst>
          </p:cNvPr>
          <p:cNvSpPr>
            <a:spLocks noGrp="1"/>
          </p:cNvSpPr>
          <p:nvPr/>
        </p:nvSpPr>
        <p:spPr>
          <a:xfrm>
            <a:off x="1149548" y="330993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9676D0-F590-4E83-B24E-B73F7A9B388A}"/>
              </a:ext>
            </a:extLst>
          </p:cNvPr>
          <p:cNvSpPr>
            <a:spLocks noGrp="1"/>
          </p:cNvSpPr>
          <p:nvPr/>
        </p:nvSpPr>
        <p:spPr>
          <a:xfrm>
            <a:off x="2468463" y="330993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0F506E-AA02-4F44-97C2-9B83F8F797F2}"/>
              </a:ext>
            </a:extLst>
          </p:cNvPr>
          <p:cNvSpPr>
            <a:spLocks noGrp="1"/>
          </p:cNvSpPr>
          <p:nvPr/>
        </p:nvSpPr>
        <p:spPr>
          <a:xfrm>
            <a:off x="4886622" y="330993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B5DEAE-BBC2-410C-9F29-D1B9FAE0818C}"/>
              </a:ext>
            </a:extLst>
          </p:cNvPr>
          <p:cNvSpPr>
            <a:spLocks noGrp="1"/>
          </p:cNvSpPr>
          <p:nvPr/>
        </p:nvSpPr>
        <p:spPr>
          <a:xfrm>
            <a:off x="7964239" y="330993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3AB04D-AD39-42EE-ABEB-922019458923}"/>
              </a:ext>
            </a:extLst>
          </p:cNvPr>
          <p:cNvSpPr>
            <a:spLocks noGrp="1"/>
          </p:cNvSpPr>
          <p:nvPr/>
        </p:nvSpPr>
        <p:spPr>
          <a:xfrm>
            <a:off x="9612957" y="330993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744F41F-5340-45B3-BE8F-B18901FF95DB}"/>
              </a:ext>
            </a:extLst>
          </p:cNvPr>
          <p:cNvSpPr>
            <a:spLocks noGrp="1"/>
          </p:cNvSpPr>
          <p:nvPr/>
        </p:nvSpPr>
        <p:spPr>
          <a:xfrm>
            <a:off x="600075" y="3595687"/>
            <a:ext cx="5494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2390004-5787-4E2D-87CA-80CF4ECC48F8}"/>
              </a:ext>
            </a:extLst>
          </p:cNvPr>
          <p:cNvSpPr>
            <a:spLocks noGrp="1"/>
          </p:cNvSpPr>
          <p:nvPr/>
        </p:nvSpPr>
        <p:spPr>
          <a:xfrm>
            <a:off x="1149548" y="3595687"/>
            <a:ext cx="13189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1B48E99-4B00-4894-B0B9-60F8ABA7C8E1}"/>
              </a:ext>
            </a:extLst>
          </p:cNvPr>
          <p:cNvSpPr>
            <a:spLocks noGrp="1"/>
          </p:cNvSpPr>
          <p:nvPr/>
        </p:nvSpPr>
        <p:spPr>
          <a:xfrm>
            <a:off x="2468463" y="3595687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F87C17C-85F1-4131-936E-1BE1C74C4E71}"/>
              </a:ext>
            </a:extLst>
          </p:cNvPr>
          <p:cNvSpPr>
            <a:spLocks noGrp="1"/>
          </p:cNvSpPr>
          <p:nvPr/>
        </p:nvSpPr>
        <p:spPr>
          <a:xfrm>
            <a:off x="4886622" y="3595687"/>
            <a:ext cx="30776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3C7622C-9685-42B2-AFC3-C1E72DC80E7A}"/>
              </a:ext>
            </a:extLst>
          </p:cNvPr>
          <p:cNvSpPr>
            <a:spLocks noGrp="1"/>
          </p:cNvSpPr>
          <p:nvPr/>
        </p:nvSpPr>
        <p:spPr>
          <a:xfrm>
            <a:off x="7964239" y="3595687"/>
            <a:ext cx="1648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85C6C47-E19A-4C88-93AF-B96C49CBC4B1}"/>
              </a:ext>
            </a:extLst>
          </p:cNvPr>
          <p:cNvSpPr>
            <a:spLocks noGrp="1"/>
          </p:cNvSpPr>
          <p:nvPr/>
        </p:nvSpPr>
        <p:spPr>
          <a:xfrm>
            <a:off x="9612957" y="3595687"/>
            <a:ext cx="1978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33C44124-3357-0D0C-F750-CDEF0CDCF02E}"/>
              </a:ext>
            </a:extLst>
          </p:cNvPr>
          <p:cNvSpPr/>
          <p:nvPr/>
        </p:nvSpPr>
        <p:spPr>
          <a:xfrm>
            <a:off x="706150" y="4639054"/>
            <a:ext cx="10405282" cy="14089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C6D321A-56CC-9B87-593A-3A354AE0F49B}"/>
              </a:ext>
            </a:extLst>
          </p:cNvPr>
          <p:cNvSpPr txBox="1"/>
          <p:nvPr/>
        </p:nvSpPr>
        <p:spPr>
          <a:xfrm>
            <a:off x="885231" y="4757737"/>
            <a:ext cx="1583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</a:t>
            </a:r>
            <a:r>
              <a:rPr lang="zh-TW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小結論</a:t>
            </a:r>
            <a:r>
              <a:rPr lang="en-US" altLang="zh-TW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</a:t>
            </a:r>
            <a:endParaRPr lang="zh-TW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2514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0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91250"/>
            <a:ext cx="11239500" cy="285750"/>
          </a:xfrm>
          <a:prstGeom prst="rect">
            <a:avLst/>
          </a:prstGeom>
        </p:spPr>
      </p:pic>
      <p:pic>
        <p:nvPicPr>
          <p:cNvPr id="71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116" y="457200"/>
            <a:ext cx="1208633" cy="266700"/>
          </a:xfrm>
          <a:prstGeom prst="rect">
            <a:avLst/>
          </a:prstGeom>
        </p:spPr>
      </p:pic>
      <p:pic>
        <p:nvPicPr>
          <p:cNvPr id="72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162050"/>
            <a:ext cx="5524500" cy="5029200"/>
          </a:xfrm>
          <a:prstGeom prst="rect">
            <a:avLst/>
          </a:prstGeom>
        </p:spPr>
      </p:pic>
      <p:pic>
        <p:nvPicPr>
          <p:cNvPr id="73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1162050"/>
            <a:ext cx="5524500" cy="5029200"/>
          </a:xfrm>
          <a:prstGeom prst="rect">
            <a:avLst/>
          </a:prstGeom>
        </p:spPr>
      </p:pic>
      <p:pic>
        <p:nvPicPr>
          <p:cNvPr id="74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2466975"/>
            <a:ext cx="5124450" cy="3524250"/>
          </a:xfrm>
          <a:prstGeom prst="rect">
            <a:avLst/>
          </a:prstGeom>
        </p:spPr>
      </p:pic>
      <p:pic>
        <p:nvPicPr>
          <p:cNvPr id="75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1905000"/>
            <a:ext cx="5124450" cy="3524250"/>
          </a:xfrm>
          <a:prstGeom prst="rect">
            <a:avLst/>
          </a:prstGeom>
        </p:spPr>
      </p:pic>
      <p:pic>
        <p:nvPicPr>
          <p:cNvPr id="76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5543550"/>
            <a:ext cx="5124450" cy="4476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0A6161-DF4B-4D93-BC43-56EE0ABA6177}"/>
              </a:ext>
            </a:extLst>
          </p:cNvPr>
          <p:cNvSpPr>
            <a:spLocks noGrp="1"/>
          </p:cNvSpPr>
          <p:nvPr/>
        </p:nvSpPr>
        <p:spPr>
          <a:xfrm>
            <a:off x="798016" y="381000"/>
            <a:ext cx="51206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2400" b="1" i="0" u="none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八、交通大執法專案與具體執行策略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04FCB1-0560-4479-92F9-79C354F5E60F}"/>
              </a:ext>
            </a:extLst>
          </p:cNvPr>
          <p:cNvSpPr>
            <a:spLocks noGrp="1"/>
          </p:cNvSpPr>
          <p:nvPr/>
        </p:nvSpPr>
        <p:spPr>
          <a:xfrm>
            <a:off x="476250" y="6315075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板橋分局交通安全週報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9C5F28-6DE2-4B4E-A86A-81165B0E0724}"/>
              </a:ext>
            </a:extLst>
          </p:cNvPr>
          <p:cNvSpPr>
            <a:spLocks noGrp="1"/>
          </p:cNvSpPr>
          <p:nvPr/>
        </p:nvSpPr>
        <p:spPr>
          <a:xfrm>
            <a:off x="10909101" y="6315075"/>
            <a:ext cx="80664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第 8 頁 / 共 8 頁</a:t>
            </a:r>
          </a:p>
        </p:txBody>
      </p:sp>
      <p:pic>
        <p:nvPicPr>
          <p:cNvPr id="80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457200"/>
            <a:ext cx="207466" cy="266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DFDB2F-9363-423D-96AC-309A4009D752}"/>
              </a:ext>
            </a:extLst>
          </p:cNvPr>
          <p:cNvSpPr>
            <a:spLocks noGrp="1"/>
          </p:cNvSpPr>
          <p:nvPr/>
        </p:nvSpPr>
        <p:spPr>
          <a:xfrm>
            <a:off x="885973" y="1362075"/>
            <a:ext cx="491475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 dirty="0" err="1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專案時程與勤務編排方式</a:t>
            </a:r>
            <a:endParaRPr sz="1350" b="1" i="0" u="none" dirty="0">
              <a:solidFill>
                <a:srgbClr val="1E3A8A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A2B86C-3016-4E5A-8072-9F805B566331}"/>
              </a:ext>
            </a:extLst>
          </p:cNvPr>
          <p:cNvSpPr>
            <a:spLocks noGrp="1"/>
          </p:cNvSpPr>
          <p:nvPr/>
        </p:nvSpPr>
        <p:spPr>
          <a:xfrm>
            <a:off x="676275" y="1666875"/>
            <a:ext cx="51244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4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1905000"/>
            <a:ext cx="5124450" cy="4476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E607D6-B4E1-4EE5-9654-FA112CA978AA}"/>
              </a:ext>
            </a:extLst>
          </p:cNvPr>
          <p:cNvSpPr>
            <a:spLocks noGrp="1"/>
          </p:cNvSpPr>
          <p:nvPr/>
        </p:nvSpPr>
        <p:spPr>
          <a:xfrm>
            <a:off x="6600973" y="1362075"/>
            <a:ext cx="491475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50" b="1" i="0" u="none" dirty="0" err="1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獎勵規定與KPI目標（激勵機制</a:t>
            </a:r>
            <a:r>
              <a:rPr sz="1350" b="1" i="0" u="none" dirty="0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E6C52B-6EC8-42CD-A2E4-8963C608BCFB}"/>
              </a:ext>
            </a:extLst>
          </p:cNvPr>
          <p:cNvSpPr>
            <a:spLocks noGrp="1"/>
          </p:cNvSpPr>
          <p:nvPr/>
        </p:nvSpPr>
        <p:spPr>
          <a:xfrm>
            <a:off x="6391275" y="1666875"/>
            <a:ext cx="51244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7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" y="1390650"/>
            <a:ext cx="133498" cy="171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7ECA75E-A742-428B-B95D-06BC9CA5B331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2738230" cy="184666"/>
          </a:xfrm>
          <a:prstGeom prst="rect">
            <a:avLst/>
          </a:prstGeom>
          <a:noFill/>
        </p:spPr>
        <p:txBody>
          <a:bodyPr wrap="square" lIns="118616" tIns="0" rIns="0" bIns="0" anchor="t">
            <a:spAutoFit/>
          </a:bodyPr>
          <a:lstStyle/>
          <a:p>
            <a:pPr algn="l">
              <a:buNone/>
            </a:pPr>
            <a:r>
              <a:rPr sz="1200" b="1" i="0" u="none" dirty="0" err="1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專案日程</a:t>
            </a:r>
            <a:r>
              <a:rPr sz="1200" b="1" i="0" u="none" dirty="0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：{{EPERIOD}}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4C23D9-F683-466C-B589-1F826AC6BFA2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4876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1" i="0" u="none">
                <a:solidFill>
                  <a:srgbClr val="1E3A8A"/>
                </a:solidFill>
                <a:latin typeface="Noto Sans TC"/>
                <a:ea typeface="Noto Sans TC"/>
                <a:cs typeface="Noto Sans TC"/>
              </a:rPr>
              <a:t>勤務實施方式：</a:t>
            </a:r>
          </a:p>
        </p:txBody>
      </p:sp>
      <p:pic>
        <p:nvPicPr>
          <p:cNvPr id="91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275" y="1390650"/>
            <a:ext cx="133498" cy="171450"/>
          </a:xfrm>
          <a:prstGeom prst="rect">
            <a:avLst/>
          </a:prstGeom>
        </p:spPr>
      </p:pic>
      <p:pic>
        <p:nvPicPr>
          <p:cNvPr id="93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2047875"/>
            <a:ext cx="118616" cy="152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C3C789C-D11A-4FEA-808E-385EDDCE86F7}"/>
              </a:ext>
            </a:extLst>
          </p:cNvPr>
          <p:cNvSpPr>
            <a:spLocks noGrp="1"/>
          </p:cNvSpPr>
          <p:nvPr/>
        </p:nvSpPr>
        <p:spPr>
          <a:xfrm>
            <a:off x="942975" y="2868930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50" b="0" i="0" u="none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2E2D59-7539-40EB-B78A-FDFA2DEA53DE}"/>
              </a:ext>
            </a:extLst>
          </p:cNvPr>
          <p:cNvSpPr>
            <a:spLocks noGrp="1"/>
          </p:cNvSpPr>
          <p:nvPr/>
        </p:nvSpPr>
        <p:spPr>
          <a:xfrm>
            <a:off x="990600" y="2867025"/>
            <a:ext cx="4686300" cy="198068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679"/>
              </a:lnSpc>
              <a:buNone/>
            </a:pPr>
            <a:r>
              <a:rPr sz="1050" b="1" i="0" u="none" dirty="0" err="1">
                <a:solidFill>
                  <a:srgbClr val="334155"/>
                </a:solidFill>
                <a:latin typeface="Noto Sans TC"/>
                <a:ea typeface="Noto Sans TC"/>
                <a:cs typeface="Noto Sans TC"/>
              </a:rPr>
              <a:t>熱點編排</a:t>
            </a:r>
            <a:endParaRPr sz="1050" b="1" i="0" u="none" dirty="0">
              <a:solidFill>
                <a:srgbClr val="334155"/>
              </a:solidFill>
              <a:latin typeface="Noto Sans TC"/>
              <a:ea typeface="Noto Sans TC"/>
              <a:cs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1670986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Macintosh PowerPoint</Application>
  <DocSecurity>0</DocSecurity>
  <PresentationFormat>寬螢幕</PresentationFormat>
  <Paragraphs>286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Microsoft JhengHei</vt:lpstr>
      <vt:lpstr>BiauKaiTC Regular</vt:lpstr>
      <vt:lpstr>Noto Sans TC</vt:lpstr>
      <vt:lpstr>Noto Sans TC Black</vt:lpstr>
      <vt:lpstr>Noto Sans TC Medium</vt:lpstr>
      <vt:lpstr>Arial</vt:lpstr>
      <vt:lpstr>Calibri</vt:lpstr>
      <vt:lpstr>Poppins Black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C4056 吳明珠</cp:lastModifiedBy>
  <cp:revision>1</cp:revision>
  <dcterms:created xsi:type="dcterms:W3CDTF">2026-08-10T06:13:15Z</dcterms:created>
  <dcterms:modified xsi:type="dcterms:W3CDTF">2026-08-10T06:44:09Z</dcterms:modified>
</cp:coreProperties>
</file>