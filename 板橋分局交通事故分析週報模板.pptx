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image" Target="../media/image33.png"/><Relationship Id="rId25" Type="http://schemas.openxmlformats.org/officeDocument/2006/relationships/image" Target="../media/image34.png"/><Relationship Id="rId26" Type="http://schemas.openxmlformats.org/officeDocument/2006/relationships/image" Target="../media/image35.png"/><Relationship Id="rId27" Type="http://schemas.openxmlformats.org/officeDocument/2006/relationships/image" Target="../media/image36.png"/><Relationship Id="rId28" Type="http://schemas.openxmlformats.org/officeDocument/2006/relationships/image" Target="../media/image37.png"/><Relationship Id="rId29" Type="http://schemas.openxmlformats.org/officeDocument/2006/relationships/image" Target="../media/image38.png"/><Relationship Id="rId30" Type="http://schemas.openxmlformats.org/officeDocument/2006/relationships/image" Target="../media/image39.png"/><Relationship Id="rId31" Type="http://schemas.openxmlformats.org/officeDocument/2006/relationships/image" Target="../media/image4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2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61.png"/><Relationship Id="rId24" Type="http://schemas.openxmlformats.org/officeDocument/2006/relationships/image" Target="../media/image62.png"/><Relationship Id="rId25" Type="http://schemas.openxmlformats.org/officeDocument/2006/relationships/image" Target="../media/image63.png"/><Relationship Id="rId26" Type="http://schemas.openxmlformats.org/officeDocument/2006/relationships/image" Target="../media/image64.png"/><Relationship Id="rId27" Type="http://schemas.openxmlformats.org/officeDocument/2006/relationships/image" Target="../media/image65.png"/><Relationship Id="rId28" Type="http://schemas.openxmlformats.org/officeDocument/2006/relationships/image" Target="../media/image66.png"/><Relationship Id="rId29" Type="http://schemas.openxmlformats.org/officeDocument/2006/relationships/image" Target="../media/image67.png"/><Relationship Id="rId30" Type="http://schemas.openxmlformats.org/officeDocument/2006/relationships/image" Target="../media/image68.png"/><Relationship Id="rId31" Type="http://schemas.openxmlformats.org/officeDocument/2006/relationships/image" Target="../media/image69.png"/><Relationship Id="rId32" Type="http://schemas.openxmlformats.org/officeDocument/2006/relationships/image" Target="../media/image70.png"/><Relationship Id="rId33" Type="http://schemas.openxmlformats.org/officeDocument/2006/relationships/image" Target="../media/image71.png"/><Relationship Id="rId34" Type="http://schemas.openxmlformats.org/officeDocument/2006/relationships/image" Target="../media/image72.png"/><Relationship Id="rId35" Type="http://schemas.openxmlformats.org/officeDocument/2006/relationships/image" Target="../media/image73.png"/><Relationship Id="rId36" Type="http://schemas.openxmlformats.org/officeDocument/2006/relationships/image" Target="../media/image74.png"/><Relationship Id="rId37" Type="http://schemas.openxmlformats.org/officeDocument/2006/relationships/image" Target="../media/image75.png"/><Relationship Id="rId38" Type="http://schemas.openxmlformats.org/officeDocument/2006/relationships/image" Target="../media/image76.png"/><Relationship Id="rId39" Type="http://schemas.openxmlformats.org/officeDocument/2006/relationships/image" Target="../media/image77.png"/><Relationship Id="rId40" Type="http://schemas.openxmlformats.org/officeDocument/2006/relationships/image" Target="../media/image78.png"/><Relationship Id="rId41" Type="http://schemas.openxmlformats.org/officeDocument/2006/relationships/image" Target="../media/image79.png"/><Relationship Id="rId42" Type="http://schemas.openxmlformats.org/officeDocument/2006/relationships/image" Target="../media/image80.png"/><Relationship Id="rId43" Type="http://schemas.openxmlformats.org/officeDocument/2006/relationships/image" Target="../media/image81.png"/><Relationship Id="rId44" Type="http://schemas.openxmlformats.org/officeDocument/2006/relationships/image" Target="../media/image82.png"/><Relationship Id="rId45" Type="http://schemas.openxmlformats.org/officeDocument/2006/relationships/image" Target="../media/image83.png"/><Relationship Id="rId46" Type="http://schemas.openxmlformats.org/officeDocument/2006/relationships/image" Target="../media/image84.png"/><Relationship Id="rId47" Type="http://schemas.openxmlformats.org/officeDocument/2006/relationships/image" Target="../media/image8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2.png"/><Relationship Id="rId4" Type="http://schemas.openxmlformats.org/officeDocument/2006/relationships/image" Target="../media/image86.png"/><Relationship Id="rId5" Type="http://schemas.openxmlformats.org/officeDocument/2006/relationships/image" Target="../media/image43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3" Type="http://schemas.openxmlformats.org/officeDocument/2006/relationships/image" Target="../media/image92.png"/><Relationship Id="rId14" Type="http://schemas.openxmlformats.org/officeDocument/2006/relationships/image" Target="../media/image93.png"/><Relationship Id="rId15" Type="http://schemas.openxmlformats.org/officeDocument/2006/relationships/image" Target="../media/image94.png"/><Relationship Id="rId16" Type="http://schemas.openxmlformats.org/officeDocument/2006/relationships/image" Target="../media/image55.png"/><Relationship Id="rId17" Type="http://schemas.openxmlformats.org/officeDocument/2006/relationships/image" Target="../media/image95.png"/><Relationship Id="rId18" Type="http://schemas.openxmlformats.org/officeDocument/2006/relationships/image" Target="../media/image96.png"/><Relationship Id="rId19" Type="http://schemas.openxmlformats.org/officeDocument/2006/relationships/image" Target="../media/image58.png"/><Relationship Id="rId20" Type="http://schemas.openxmlformats.org/officeDocument/2006/relationships/image" Target="../media/image97.png"/><Relationship Id="rId21" Type="http://schemas.openxmlformats.org/officeDocument/2006/relationships/image" Target="../media/image98.png"/><Relationship Id="rId22" Type="http://schemas.openxmlformats.org/officeDocument/2006/relationships/image" Target="../media/image61.png"/><Relationship Id="rId23" Type="http://schemas.openxmlformats.org/officeDocument/2006/relationships/image" Target="../media/image99.png"/><Relationship Id="rId24" Type="http://schemas.openxmlformats.org/officeDocument/2006/relationships/image" Target="../media/image100.png"/><Relationship Id="rId25" Type="http://schemas.openxmlformats.org/officeDocument/2006/relationships/image" Target="../media/image64.png"/><Relationship Id="rId26" Type="http://schemas.openxmlformats.org/officeDocument/2006/relationships/image" Target="../media/image101.png"/><Relationship Id="rId27" Type="http://schemas.openxmlformats.org/officeDocument/2006/relationships/image" Target="../media/image102.png"/><Relationship Id="rId28" Type="http://schemas.openxmlformats.org/officeDocument/2006/relationships/image" Target="../media/image67.png"/><Relationship Id="rId29" Type="http://schemas.openxmlformats.org/officeDocument/2006/relationships/image" Target="../media/image103.png"/><Relationship Id="rId30" Type="http://schemas.openxmlformats.org/officeDocument/2006/relationships/image" Target="../media/image104.png"/><Relationship Id="rId31" Type="http://schemas.openxmlformats.org/officeDocument/2006/relationships/image" Target="../media/image70.png"/><Relationship Id="rId32" Type="http://schemas.openxmlformats.org/officeDocument/2006/relationships/image" Target="../media/image105.png"/><Relationship Id="rId33" Type="http://schemas.openxmlformats.org/officeDocument/2006/relationships/image" Target="../media/image106.png"/><Relationship Id="rId34" Type="http://schemas.openxmlformats.org/officeDocument/2006/relationships/image" Target="../media/image73.png"/><Relationship Id="rId35" Type="http://schemas.openxmlformats.org/officeDocument/2006/relationships/image" Target="../media/image107.png"/><Relationship Id="rId36" Type="http://schemas.openxmlformats.org/officeDocument/2006/relationships/image" Target="../media/image76.png"/><Relationship Id="rId37" Type="http://schemas.openxmlformats.org/officeDocument/2006/relationships/image" Target="../media/image108.png"/><Relationship Id="rId38" Type="http://schemas.openxmlformats.org/officeDocument/2006/relationships/image" Target="../media/image109.png"/><Relationship Id="rId39" Type="http://schemas.openxmlformats.org/officeDocument/2006/relationships/image" Target="../media/image79.png"/><Relationship Id="rId40" Type="http://schemas.openxmlformats.org/officeDocument/2006/relationships/image" Target="../media/image110.png"/><Relationship Id="rId41" Type="http://schemas.openxmlformats.org/officeDocument/2006/relationships/image" Target="../media/image111.png"/><Relationship Id="rId42" Type="http://schemas.openxmlformats.org/officeDocument/2006/relationships/image" Target="../media/image82.png"/><Relationship Id="rId43" Type="http://schemas.openxmlformats.org/officeDocument/2006/relationships/image" Target="../media/image112.png"/><Relationship Id="rId44" Type="http://schemas.openxmlformats.org/officeDocument/2006/relationships/image" Target="../media/image1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2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120.png"/><Relationship Id="rId11" Type="http://schemas.openxmlformats.org/officeDocument/2006/relationships/image" Target="../media/image121.png"/><Relationship Id="rId12" Type="http://schemas.openxmlformats.org/officeDocument/2006/relationships/image" Target="../media/image122.png"/><Relationship Id="rId13" Type="http://schemas.openxmlformats.org/officeDocument/2006/relationships/image" Target="../media/image123.png"/><Relationship Id="rId14" Type="http://schemas.openxmlformats.org/officeDocument/2006/relationships/image" Target="../media/image124.png"/><Relationship Id="rId15" Type="http://schemas.openxmlformats.org/officeDocument/2006/relationships/image" Target="../media/image125.png"/><Relationship Id="rId16" Type="http://schemas.openxmlformats.org/officeDocument/2006/relationships/image" Target="../media/image126.png"/><Relationship Id="rId17" Type="http://schemas.openxmlformats.org/officeDocument/2006/relationships/image" Target="../media/image127.png"/><Relationship Id="rId18" Type="http://schemas.openxmlformats.org/officeDocument/2006/relationships/image" Target="../media/image128.png"/><Relationship Id="rId19" Type="http://schemas.openxmlformats.org/officeDocument/2006/relationships/image" Target="../media/image129.png"/><Relationship Id="rId20" Type="http://schemas.openxmlformats.org/officeDocument/2006/relationships/image" Target="../media/image130.png"/><Relationship Id="rId21" Type="http://schemas.openxmlformats.org/officeDocument/2006/relationships/image" Target="../media/image131.png"/><Relationship Id="rId22" Type="http://schemas.openxmlformats.org/officeDocument/2006/relationships/image" Target="../media/image132.png"/><Relationship Id="rId23" Type="http://schemas.openxmlformats.org/officeDocument/2006/relationships/image" Target="../media/image133.png"/><Relationship Id="rId24" Type="http://schemas.openxmlformats.org/officeDocument/2006/relationships/image" Target="../media/image134.png"/><Relationship Id="rId25" Type="http://schemas.openxmlformats.org/officeDocument/2006/relationships/image" Target="../media/image135.png"/><Relationship Id="rId26" Type="http://schemas.openxmlformats.org/officeDocument/2006/relationships/image" Target="../media/image136.png"/><Relationship Id="rId27" Type="http://schemas.openxmlformats.org/officeDocument/2006/relationships/image" Target="../media/image137.png"/><Relationship Id="rId28" Type="http://schemas.openxmlformats.org/officeDocument/2006/relationships/image" Target="../media/image138.png"/><Relationship Id="rId29" Type="http://schemas.openxmlformats.org/officeDocument/2006/relationships/image" Target="../media/image139.png"/><Relationship Id="rId30" Type="http://schemas.openxmlformats.org/officeDocument/2006/relationships/image" Target="../media/image140.png"/><Relationship Id="rId31" Type="http://schemas.openxmlformats.org/officeDocument/2006/relationships/image" Target="../media/image141.png"/><Relationship Id="rId32" Type="http://schemas.openxmlformats.org/officeDocument/2006/relationships/image" Target="../media/image142.png"/><Relationship Id="rId33" Type="http://schemas.openxmlformats.org/officeDocument/2006/relationships/image" Target="../media/image143.png"/><Relationship Id="rId34" Type="http://schemas.openxmlformats.org/officeDocument/2006/relationships/image" Target="../media/image144.png"/><Relationship Id="rId35" Type="http://schemas.openxmlformats.org/officeDocument/2006/relationships/image" Target="../media/image145.png"/><Relationship Id="rId36" Type="http://schemas.openxmlformats.org/officeDocument/2006/relationships/image" Target="../media/image146.png"/><Relationship Id="rId37" Type="http://schemas.openxmlformats.org/officeDocument/2006/relationships/image" Target="../media/image147.png"/><Relationship Id="rId38" Type="http://schemas.openxmlformats.org/officeDocument/2006/relationships/image" Target="../media/image148.png"/><Relationship Id="rId39" Type="http://schemas.openxmlformats.org/officeDocument/2006/relationships/image" Target="../media/image149.png"/><Relationship Id="rId40" Type="http://schemas.openxmlformats.org/officeDocument/2006/relationships/image" Target="../media/image150.png"/><Relationship Id="rId41" Type="http://schemas.openxmlformats.org/officeDocument/2006/relationships/image" Target="../media/image15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2.png"/><Relationship Id="rId4" Type="http://schemas.openxmlformats.org/officeDocument/2006/relationships/image" Target="../media/image152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Relationship Id="rId9" Type="http://schemas.openxmlformats.org/officeDocument/2006/relationships/image" Target="../media/image155.png"/><Relationship Id="rId10" Type="http://schemas.openxmlformats.org/officeDocument/2006/relationships/image" Target="../media/image156.png"/><Relationship Id="rId11" Type="http://schemas.openxmlformats.org/officeDocument/2006/relationships/image" Target="../media/image157.png"/><Relationship Id="rId12" Type="http://schemas.openxmlformats.org/officeDocument/2006/relationships/image" Target="../media/image158.png"/><Relationship Id="rId13" Type="http://schemas.openxmlformats.org/officeDocument/2006/relationships/image" Target="../media/image159.png"/><Relationship Id="rId14" Type="http://schemas.openxmlformats.org/officeDocument/2006/relationships/image" Target="../media/image160.png"/><Relationship Id="rId15" Type="http://schemas.openxmlformats.org/officeDocument/2006/relationships/image" Target="../media/image161.png"/><Relationship Id="rId16" Type="http://schemas.openxmlformats.org/officeDocument/2006/relationships/image" Target="../media/image162.png"/><Relationship Id="rId17" Type="http://schemas.openxmlformats.org/officeDocument/2006/relationships/image" Target="../media/image163.png"/><Relationship Id="rId18" Type="http://schemas.openxmlformats.org/officeDocument/2006/relationships/image" Target="../media/image164.png"/><Relationship Id="rId19" Type="http://schemas.openxmlformats.org/officeDocument/2006/relationships/image" Target="../media/image165.png"/><Relationship Id="rId20" Type="http://schemas.openxmlformats.org/officeDocument/2006/relationships/image" Target="../media/image166.png"/><Relationship Id="rId21" Type="http://schemas.openxmlformats.org/officeDocument/2006/relationships/image" Target="../media/image167.png"/><Relationship Id="rId22" Type="http://schemas.openxmlformats.org/officeDocument/2006/relationships/image" Target="../media/image168.png"/><Relationship Id="rId23" Type="http://schemas.openxmlformats.org/officeDocument/2006/relationships/image" Target="../media/image169.png"/><Relationship Id="rId24" Type="http://schemas.openxmlformats.org/officeDocument/2006/relationships/image" Target="../media/image170.png"/><Relationship Id="rId25" Type="http://schemas.openxmlformats.org/officeDocument/2006/relationships/image" Target="../media/image171.png"/><Relationship Id="rId26" Type="http://schemas.openxmlformats.org/officeDocument/2006/relationships/image" Target="../media/image172.png"/><Relationship Id="rId27" Type="http://schemas.openxmlformats.org/officeDocument/2006/relationships/image" Target="../media/image173.png"/><Relationship Id="rId28" Type="http://schemas.openxmlformats.org/officeDocument/2006/relationships/image" Target="../media/image174.png"/><Relationship Id="rId29" Type="http://schemas.openxmlformats.org/officeDocument/2006/relationships/image" Target="../media/image175.png"/><Relationship Id="rId30" Type="http://schemas.openxmlformats.org/officeDocument/2006/relationships/image" Target="../media/image176.png"/><Relationship Id="rId31" Type="http://schemas.openxmlformats.org/officeDocument/2006/relationships/image" Target="../media/image177.png"/><Relationship Id="rId32" Type="http://schemas.openxmlformats.org/officeDocument/2006/relationships/image" Target="../media/image178.png"/><Relationship Id="rId33" Type="http://schemas.openxmlformats.org/officeDocument/2006/relationships/image" Target="../media/image179.png"/><Relationship Id="rId34" Type="http://schemas.openxmlformats.org/officeDocument/2006/relationships/image" Target="../media/image180.png"/><Relationship Id="rId35" Type="http://schemas.openxmlformats.org/officeDocument/2006/relationships/image" Target="../media/image18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2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188.png"/><Relationship Id="rId11" Type="http://schemas.openxmlformats.org/officeDocument/2006/relationships/image" Target="../media/image189.png"/><Relationship Id="rId12" Type="http://schemas.openxmlformats.org/officeDocument/2006/relationships/image" Target="../media/image190.png"/><Relationship Id="rId13" Type="http://schemas.openxmlformats.org/officeDocument/2006/relationships/image" Target="../media/image191.png"/><Relationship Id="rId14" Type="http://schemas.openxmlformats.org/officeDocument/2006/relationships/image" Target="../media/image192.png"/><Relationship Id="rId15" Type="http://schemas.openxmlformats.org/officeDocument/2006/relationships/image" Target="../media/image193.png"/><Relationship Id="rId16" Type="http://schemas.openxmlformats.org/officeDocument/2006/relationships/image" Target="../media/image194.png"/><Relationship Id="rId17" Type="http://schemas.openxmlformats.org/officeDocument/2006/relationships/image" Target="../media/image195.png"/><Relationship Id="rId18" Type="http://schemas.openxmlformats.org/officeDocument/2006/relationships/image" Target="../media/image196.png"/><Relationship Id="rId19" Type="http://schemas.openxmlformats.org/officeDocument/2006/relationships/image" Target="../media/image197.png"/><Relationship Id="rId20" Type="http://schemas.openxmlformats.org/officeDocument/2006/relationships/image" Target="../media/image198.png"/><Relationship Id="rId21" Type="http://schemas.openxmlformats.org/officeDocument/2006/relationships/image" Target="../media/image199.png"/><Relationship Id="rId22" Type="http://schemas.openxmlformats.org/officeDocument/2006/relationships/image" Target="../media/image200.png"/><Relationship Id="rId23" Type="http://schemas.openxmlformats.org/officeDocument/2006/relationships/image" Target="../media/image201.png"/><Relationship Id="rId24" Type="http://schemas.openxmlformats.org/officeDocument/2006/relationships/image" Target="../media/image202.png"/><Relationship Id="rId25" Type="http://schemas.openxmlformats.org/officeDocument/2006/relationships/image" Target="../media/image203.png"/><Relationship Id="rId26" Type="http://schemas.openxmlformats.org/officeDocument/2006/relationships/image" Target="../media/image204.png"/><Relationship Id="rId27" Type="http://schemas.openxmlformats.org/officeDocument/2006/relationships/image" Target="../media/image205.png"/><Relationship Id="rId28" Type="http://schemas.openxmlformats.org/officeDocument/2006/relationships/image" Target="../media/image20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2.png"/><Relationship Id="rId4" Type="http://schemas.openxmlformats.org/officeDocument/2006/relationships/image" Target="../media/image207.png"/><Relationship Id="rId5" Type="http://schemas.openxmlformats.org/officeDocument/2006/relationships/image" Target="../media/image208.png"/><Relationship Id="rId6" Type="http://schemas.openxmlformats.org/officeDocument/2006/relationships/image" Target="../media/image209.png"/><Relationship Id="rId7" Type="http://schemas.openxmlformats.org/officeDocument/2006/relationships/image" Target="../media/image210.png"/><Relationship Id="rId8" Type="http://schemas.openxmlformats.org/officeDocument/2006/relationships/image" Target="../media/image211.png"/><Relationship Id="rId9" Type="http://schemas.openxmlformats.org/officeDocument/2006/relationships/image" Target="../media/image212.png"/><Relationship Id="rId10" Type="http://schemas.openxmlformats.org/officeDocument/2006/relationships/image" Target="../media/image213.png"/><Relationship Id="rId11" Type="http://schemas.openxmlformats.org/officeDocument/2006/relationships/image" Target="../media/image214.png"/><Relationship Id="rId12" Type="http://schemas.openxmlformats.org/officeDocument/2006/relationships/image" Target="../media/image215.png"/><Relationship Id="rId13" Type="http://schemas.openxmlformats.org/officeDocument/2006/relationships/image" Target="../media/image216.png"/><Relationship Id="rId14" Type="http://schemas.openxmlformats.org/officeDocument/2006/relationships/image" Target="../media/image217.png"/><Relationship Id="rId15" Type="http://schemas.openxmlformats.org/officeDocument/2006/relationships/image" Target="../media/image218.png"/><Relationship Id="rId16" Type="http://schemas.openxmlformats.org/officeDocument/2006/relationships/image" Target="../media/image219.png"/><Relationship Id="rId17" Type="http://schemas.openxmlformats.org/officeDocument/2006/relationships/image" Target="../media/image220.png"/><Relationship Id="rId18" Type="http://schemas.openxmlformats.org/officeDocument/2006/relationships/image" Target="../media/image221.png"/><Relationship Id="rId19" Type="http://schemas.openxmlformats.org/officeDocument/2006/relationships/image" Target="../media/image222.png"/><Relationship Id="rId20" Type="http://schemas.openxmlformats.org/officeDocument/2006/relationships/image" Target="../media/image223.png"/><Relationship Id="rId21" Type="http://schemas.openxmlformats.org/officeDocument/2006/relationships/image" Target="../media/image224.png"/><Relationship Id="rId22" Type="http://schemas.openxmlformats.org/officeDocument/2006/relationships/image" Target="../media/image225.png"/><Relationship Id="rId23" Type="http://schemas.openxmlformats.org/officeDocument/2006/relationships/image" Target="../media/image226.png"/><Relationship Id="rId24" Type="http://schemas.openxmlformats.org/officeDocument/2006/relationships/image" Target="../media/image227.png"/><Relationship Id="rId25" Type="http://schemas.openxmlformats.org/officeDocument/2006/relationships/image" Target="../media/image228.png"/><Relationship Id="rId26" Type="http://schemas.openxmlformats.org/officeDocument/2006/relationships/image" Target="../media/image229.png"/><Relationship Id="rId27" Type="http://schemas.openxmlformats.org/officeDocument/2006/relationships/image" Target="../media/image230.png"/><Relationship Id="rId28" Type="http://schemas.openxmlformats.org/officeDocument/2006/relationships/image" Target="../media/image2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905351"/>
            <a:ext cx="11049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71500"/>
            <a:ext cx="2447032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0932" y="571500"/>
            <a:ext cx="1799332" cy="333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777132"/>
            <a:ext cx="1160145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0" sz="4200" i="0" u="none">
                <a:solidFill>
                  <a:srgbClr val="FFFFFF"/>
                </a:solidFill>
                <a:latin typeface="Noto Sans TC Black"/>
              </a:rPr>
              <a:t>轄區交通事故分析</a:t>
            </a:r>
            <a:r>
              <a:t>
</a:t>
            </a:r>
            <a:r>
              <a:rPr b="0" sz="4200" i="0" u="none">
                <a:solidFill>
                  <a:srgbClr val="FFFFFF"/>
                </a:solidFill>
                <a:latin typeface="Noto Sans TC Black"/>
              </a:rPr>
              <a:t> &amp; 防制策略週報模板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247554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3C5FD"/>
                </a:solidFill>
                <a:latin typeface="Noto Sans TC"/>
              </a:rPr>
              <a:t>每週交通事故大數據分析與精準執法熱點規劃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105376"/>
            <a:ext cx="1984474" cy="180975"/>
          </a:xfrm>
          <a:prstGeom prst="rect">
            <a:avLst/>
          </a:prstGeom>
          <a:noFill/>
        </p:spPr>
        <p:txBody>
          <a:bodyPr wrap="square" lIns="111174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Noto Sans TC"/>
              </a:rPr>
              <a:t>製報單位：交通組 / 交通分隊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5376" y="6105376"/>
            <a:ext cx="2175123" cy="180975"/>
          </a:xfrm>
          <a:prstGeom prst="rect">
            <a:avLst/>
          </a:prstGeom>
          <a:noFill/>
        </p:spPr>
        <p:txBody>
          <a:bodyPr wrap="square" lIns="111174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Noto Sans TC"/>
              </a:rPr>
              <a:t>自動化生成與數據替代格式 v2.0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657225"/>
            <a:ext cx="128141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2857" y="657225"/>
            <a:ext cx="128141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191196"/>
            <a:ext cx="148232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25215" y="2172146"/>
            <a:ext cx="20944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BBF24"/>
                </a:solidFill>
                <a:latin typeface="Noto Sans TC"/>
              </a:rPr>
              <a:t>115年1月1日至8月31日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6124426"/>
            <a:ext cx="111174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5376" y="6124426"/>
            <a:ext cx="111174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783085"/>
            <a:ext cx="5505450" cy="340816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62050"/>
            <a:ext cx="5505450" cy="502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62050"/>
            <a:ext cx="1733550" cy="13162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1162050"/>
            <a:ext cx="1733550" cy="13162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8150" y="1162050"/>
            <a:ext cx="1733550" cy="13162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8016" y="381000"/>
            <a:ext cx="32004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一、交通事故總體分析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板橋分局交通安全週報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第 2 頁 / 共 8 頁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8203" y="523875"/>
            <a:ext cx="103733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02987" y="485775"/>
            <a:ext cx="788937" cy="209550"/>
          </a:xfrm>
          <a:prstGeom prst="rect">
            <a:avLst/>
          </a:prstGeom>
          <a:solidFill>
            <a:srgbClr val="FEF3C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Noto Sans TC"/>
              </a:rPr>
              <a:t>115年1-8月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973" y="2983110"/>
            <a:ext cx="489570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本期防制研判與重點摘要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275" y="3287910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9350" y="1181100"/>
            <a:ext cx="5467350" cy="4991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175" y="1323975"/>
            <a:ext cx="1409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TC Medium"/>
              </a:rPr>
              <a:t>A1+A2 事故總件數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" y="1944885"/>
            <a:ext cx="1409700" cy="314325"/>
          </a:xfrm>
          <a:prstGeom prst="rect">
            <a:avLst/>
          </a:prstGeom>
          <a:noFill/>
        </p:spPr>
        <p:txBody>
          <a:bodyPr wrap="square" lIns="9644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6534"/>
                </a:solidFill>
                <a:latin typeface="Noto Sans TC"/>
              </a:rPr>
              <a:t>同期減少 件 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4125" y="1352550"/>
            <a:ext cx="1409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TC Medium"/>
              </a:rPr>
              <a:t>A1 類事故 (致命)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4125" y="1581150"/>
            <a:ext cx="14097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2400" i="0" u="none">
                <a:solidFill>
                  <a:srgbClr val="EF4444"/>
                </a:solidFill>
                <a:latin typeface="Poppins Black"/>
              </a:rPr>
              <a:t>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4125" y="1973460"/>
            <a:ext cx="1409700" cy="342900"/>
          </a:xfrm>
          <a:prstGeom prst="rect">
            <a:avLst/>
          </a:prstGeom>
          <a:noFill/>
        </p:spPr>
        <p:txBody>
          <a:bodyPr wrap="square" lIns="9644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991B1B"/>
                </a:solidFill>
                <a:latin typeface="Noto Sans TC"/>
              </a:rPr>
              <a:t>較同期增加 件 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0075" y="1323975"/>
            <a:ext cx="1409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TC Medium"/>
              </a:rPr>
              <a:t>A2 類事故 (受傷)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0075" y="1552575"/>
            <a:ext cx="14097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2400" i="0" u="none">
                <a:solidFill>
                  <a:srgbClr val="0F172A"/>
                </a:solidFill>
                <a:latin typeface="Poppins Black"/>
              </a:rPr>
              <a:t>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0075" y="1944885"/>
            <a:ext cx="1409700" cy="314325"/>
          </a:xfrm>
          <a:prstGeom prst="rect">
            <a:avLst/>
          </a:prstGeom>
          <a:noFill/>
        </p:spPr>
        <p:txBody>
          <a:bodyPr wrap="square" lIns="9644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6534"/>
                </a:solidFill>
                <a:latin typeface="Noto Sans TC"/>
              </a:rPr>
              <a:t>較同期減少 件 ()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3011685"/>
            <a:ext cx="133498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9150" y="3409354"/>
            <a:ext cx="476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Noto Sans T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775" y="3411735"/>
            <a:ext cx="4914900" cy="485775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125" i="0" u="none">
                <a:solidFill>
                  <a:srgbClr val="334155"/>
                </a:solidFill>
                <a:latin typeface="Noto Sans TC"/>
              </a:rPr>
              <a:t>整體狀況：</a:t>
            </a:r>
            <a:r>
              <a:rPr b="0" sz="1125" i="0" u="none">
                <a:solidFill>
                  <a:srgbClr val="334155"/>
                </a:solidFill>
                <a:latin typeface="Noto Sans TC"/>
              </a:rPr>
              <a:t>年總體交通狀況相較年同期呈現平穩且下降趨勢，A2受傷事故有效減少 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" y="3990379"/>
            <a:ext cx="476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Noto Sans T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3992760"/>
            <a:ext cx="4914900" cy="485775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125" i="0" u="none">
                <a:solidFill>
                  <a:srgbClr val="334155"/>
                </a:solidFill>
                <a:latin typeface="Noto Sans TC"/>
              </a:rPr>
              <a:t>核心防制重點：</a:t>
            </a:r>
            <a:r>
              <a:rPr b="0" sz="1125" i="0" u="none">
                <a:solidFill>
                  <a:srgbClr val="334155"/>
                </a:solidFill>
                <a:latin typeface="Noto Sans TC"/>
              </a:rPr>
              <a:t>惟 增加 (+133%)，為本年度執法與宣導之首要防制目標。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" y="4571404"/>
            <a:ext cx="476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Noto Sans T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75" y="4573785"/>
            <a:ext cx="4914900" cy="242887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125" i="0" u="none">
                <a:solidFill>
                  <a:srgbClr val="334155"/>
                </a:solidFill>
                <a:latin typeface="Noto Sans TC"/>
              </a:rPr>
              <a:t>防制方向：</a:t>
            </a:r>
            <a:r>
              <a:rPr b="0" sz="1125" i="0" u="none">
                <a:solidFill>
                  <a:srgbClr val="334155"/>
                </a:solidFill>
                <a:latin typeface="Noto Sans TC"/>
              </a:rPr>
              <a:t>針對高齡者違規、行人路權及機車未保安全距離加強專案執法。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80401" y="1352550"/>
            <a:ext cx="88999" cy="1143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85175" y="3224212"/>
            <a:ext cx="355699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96250" y="3776662"/>
            <a:ext cx="1733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Noto Sans TC"/>
              </a:rPr>
              <a:t>每週可直接替換點位地圖截圖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776" y="3976687"/>
            <a:ext cx="1308496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Noto Sans TC"/>
              </a:rPr>
              <a:t>建議比例 16:9 或 4:3 畫面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4428" y="1533525"/>
            <a:ext cx="877044" cy="3810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6436" y="1963935"/>
            <a:ext cx="96440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37084" y="1944885"/>
            <a:ext cx="314176" cy="1809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214" y="2106810"/>
            <a:ext cx="403473" cy="1809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68525" y="1562100"/>
            <a:ext cx="283815" cy="3810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57164" y="1992510"/>
            <a:ext cx="96440" cy="1238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41637" y="1973460"/>
            <a:ext cx="183207" cy="1809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17577" y="1973460"/>
            <a:ext cx="183207" cy="1809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57861" y="1533525"/>
            <a:ext cx="877044" cy="3810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83000" y="1963935"/>
            <a:ext cx="96440" cy="1238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67473" y="1944885"/>
            <a:ext cx="321022" cy="1809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27091" y="2106810"/>
            <a:ext cx="575518" cy="1809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81150" y="3440310"/>
            <a:ext cx="344834" cy="2000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11859" y="3440310"/>
            <a:ext cx="344834" cy="2000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06637" y="3683198"/>
            <a:ext cx="598884" cy="2000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49512" y="4021335"/>
            <a:ext cx="868560" cy="2000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83297" y="4021335"/>
            <a:ext cx="558998" cy="2000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85151" y="1295400"/>
            <a:ext cx="1797248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735" y="457200"/>
            <a:ext cx="1357014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162050"/>
            <a:ext cx="6055965" cy="5114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5543550"/>
            <a:ext cx="5655915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8016" y="381000"/>
            <a:ext cx="4190054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二、易肇事路段分析 (Top 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板橋分局交通安全週報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第 3 頁 / 共 8 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2560" y="523875"/>
            <a:ext cx="103733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0815" y="1162050"/>
            <a:ext cx="4954934" cy="5114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9865" y="1181100"/>
            <a:ext cx="4916834" cy="5076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5973" y="1362075"/>
            <a:ext cx="5446216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易肇事路段排名與件數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275" y="1666875"/>
            <a:ext cx="565591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6275" y="1790700"/>
          <a:ext cx="565591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678656"/>
                <a:gridCol w="3280469"/>
                <a:gridCol w="1696789"/>
              </a:tblGrid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排名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路段名稱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發生件數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四川路2段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246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縣民大道1段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201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四川路1段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182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板城路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174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大觀路2段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167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南雅南路2段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161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文化路1段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159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館前西路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148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重慶路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138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中正路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137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3625" y="5638800"/>
            <a:ext cx="678507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9782" y="5638800"/>
            <a:ext cx="444847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6104" y="5638800"/>
            <a:ext cx="802332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725" y="5638800"/>
            <a:ext cx="5230266" cy="3524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37601" y="1352550"/>
            <a:ext cx="88999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76275" y="24336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54931" y="243363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35400" y="243363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275" y="27670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54931" y="276701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35400" y="27670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275" y="310038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54931" y="310038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35400" y="310038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275" y="343376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54931" y="343376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35400" y="343376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275" y="37671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54931" y="376713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35400" y="376713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275" y="41005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54931" y="410051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35400" y="41005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275" y="443388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54931" y="443388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35400" y="443388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6275" y="476726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54931" y="476726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35400" y="476726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6275" y="51006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54931" y="510063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35400" y="510063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6275" y="54340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54931" y="543401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35400" y="54340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828" y="2171700"/>
            <a:ext cx="209550" cy="2095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50181" y="2181225"/>
            <a:ext cx="721965" cy="1905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0117" y="2181225"/>
            <a:ext cx="336798" cy="1905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0828" y="2505075"/>
            <a:ext cx="209550" cy="2095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50181" y="2514600"/>
            <a:ext cx="855315" cy="1905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30117" y="2514600"/>
            <a:ext cx="336798" cy="1905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0828" y="2838450"/>
            <a:ext cx="209550" cy="2095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50181" y="2847975"/>
            <a:ext cx="721965" cy="1905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30117" y="2847975"/>
            <a:ext cx="336798" cy="1905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0828" y="3171825"/>
            <a:ext cx="209550" cy="2095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50181" y="3181350"/>
            <a:ext cx="514350" cy="1905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30117" y="3181350"/>
            <a:ext cx="336798" cy="1905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0828" y="3505200"/>
            <a:ext cx="209550" cy="20955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50181" y="3514725"/>
            <a:ext cx="721965" cy="1905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30117" y="3514725"/>
            <a:ext cx="336798" cy="1905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0828" y="3838575"/>
            <a:ext cx="209550" cy="20955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50181" y="3848100"/>
            <a:ext cx="855315" cy="1905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230117" y="3848100"/>
            <a:ext cx="336798" cy="1905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10828" y="4171950"/>
            <a:ext cx="209550" cy="20955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50181" y="4181475"/>
            <a:ext cx="721965" cy="1905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230117" y="4181475"/>
            <a:ext cx="336798" cy="1905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0828" y="4505325"/>
            <a:ext cx="209550" cy="20955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50181" y="4514850"/>
            <a:ext cx="647700" cy="1905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230117" y="4514850"/>
            <a:ext cx="336798" cy="1905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10828" y="4838700"/>
            <a:ext cx="209550" cy="20955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50181" y="4848225"/>
            <a:ext cx="514350" cy="1905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230117" y="4848225"/>
            <a:ext cx="336798" cy="1905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10828" y="5172075"/>
            <a:ext cx="209550" cy="20955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450181" y="5181600"/>
            <a:ext cx="514350" cy="1905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230117" y="5181600"/>
            <a:ext cx="336798" cy="19050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242351" y="1295400"/>
            <a:ext cx="1340048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116" y="457200"/>
            <a:ext cx="1208633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162050"/>
            <a:ext cx="6055965" cy="502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5629275"/>
            <a:ext cx="5655915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8016" y="381000"/>
            <a:ext cx="4190054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三、易肇事路口分析 (Top 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板橋分局交通安全週報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第 4 頁 / 共 8 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0941" y="523875"/>
            <a:ext cx="103733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0815" y="1162050"/>
            <a:ext cx="4954934" cy="5029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9865" y="1181100"/>
            <a:ext cx="4916834" cy="4991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5973" y="1362075"/>
            <a:ext cx="5446216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易肇事路口排名與件數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275" y="1666875"/>
            <a:ext cx="565591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6275" y="1790700"/>
          <a:ext cx="565591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678656"/>
                <a:gridCol w="3393578"/>
                <a:gridCol w="1583680"/>
              </a:tblGrid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排名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路口名稱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件數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南雅南路2段與遠東路口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21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四川路2段與華東街口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19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環河西路5段與板城路口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15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縣民大道與館前西路口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13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四川路1段與遠東路口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11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板城路與大觀路口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11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國慶路與和平路口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11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四川路2段與中央路口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10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篤行路1段與沙崙街口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10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館前西路與南興路口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10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5724525"/>
            <a:ext cx="1297632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9782" y="5724525"/>
            <a:ext cx="375939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7197" y="5724525"/>
            <a:ext cx="1297632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23301" y="1352550"/>
            <a:ext cx="88999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76275" y="24336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54931" y="243363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48510" y="243363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275" y="27670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54931" y="276701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48510" y="276701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275" y="310038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54931" y="310038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48510" y="310038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275" y="343376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54931" y="343376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48510" y="343376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275" y="37671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54931" y="376713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48510" y="376713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275" y="41005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54931" y="410051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48510" y="410051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275" y="443388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54931" y="443388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48510" y="443388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6275" y="476726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54931" y="476726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48510" y="476726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6275" y="51006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54931" y="510063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48510" y="510063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6275" y="54340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54931" y="543401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48510" y="543401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0828" y="2171700"/>
            <a:ext cx="209550" cy="2095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50181" y="2181225"/>
            <a:ext cx="1522065" cy="1905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3730" y="2181225"/>
            <a:ext cx="262681" cy="1905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828" y="2505075"/>
            <a:ext cx="209550" cy="2095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50181" y="2514600"/>
            <a:ext cx="1388715" cy="1905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23730" y="2514600"/>
            <a:ext cx="262681" cy="1905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0828" y="2838450"/>
            <a:ext cx="209550" cy="2095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50181" y="2847975"/>
            <a:ext cx="1522065" cy="1905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23730" y="2847975"/>
            <a:ext cx="262681" cy="1905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0828" y="3171825"/>
            <a:ext cx="209550" cy="2095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50181" y="3181350"/>
            <a:ext cx="1447800" cy="1905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23730" y="3181350"/>
            <a:ext cx="262681" cy="1905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0828" y="3505200"/>
            <a:ext cx="209550" cy="2095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50181" y="3514725"/>
            <a:ext cx="1388715" cy="1905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27451" y="3514725"/>
            <a:ext cx="255389" cy="1905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0828" y="3838575"/>
            <a:ext cx="209550" cy="20955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50181" y="3848100"/>
            <a:ext cx="1181100" cy="1905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27451" y="3848100"/>
            <a:ext cx="255389" cy="1905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0828" y="4171950"/>
            <a:ext cx="209550" cy="20955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450181" y="4181475"/>
            <a:ext cx="1181100" cy="1905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27451" y="4181475"/>
            <a:ext cx="255389" cy="1905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10828" y="4505325"/>
            <a:ext cx="209550" cy="20955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50181" y="4514850"/>
            <a:ext cx="1388715" cy="1905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23730" y="4514850"/>
            <a:ext cx="262681" cy="1905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0828" y="4838700"/>
            <a:ext cx="209550" cy="20955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450181" y="4848225"/>
            <a:ext cx="1388715" cy="1905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323730" y="4848225"/>
            <a:ext cx="262681" cy="1905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10828" y="5172075"/>
            <a:ext cx="209550" cy="20955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50181" y="5181600"/>
            <a:ext cx="1314450" cy="19050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23730" y="5181600"/>
            <a:ext cx="262681" cy="1905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128051" y="1295400"/>
            <a:ext cx="1454348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7066" y="457200"/>
            <a:ext cx="1608683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162050"/>
            <a:ext cx="5505450" cy="502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62050"/>
            <a:ext cx="5505450" cy="5029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5457825"/>
            <a:ext cx="5105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5457825"/>
            <a:ext cx="5105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1790700"/>
            <a:ext cx="42291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2038350"/>
            <a:ext cx="42291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2286000"/>
            <a:ext cx="42291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2533650"/>
            <a:ext cx="42291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2781300"/>
            <a:ext cx="42291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3028950"/>
            <a:ext cx="42291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3276600"/>
            <a:ext cx="42291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2575" y="1790700"/>
            <a:ext cx="42291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2575" y="2038350"/>
            <a:ext cx="3214092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2575" y="2286000"/>
            <a:ext cx="232588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2575" y="2533650"/>
            <a:ext cx="156463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2575" y="2781300"/>
            <a:ext cx="1818382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2575" y="3028950"/>
            <a:ext cx="1987599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2575" y="3276600"/>
            <a:ext cx="1141809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8016" y="381000"/>
            <a:ext cx="416052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四、事故時段與主要肇因分析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板橋分局交通安全週報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第 5 頁 / 共 8 頁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30891" y="523875"/>
            <a:ext cx="103733" cy="133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5973" y="1362075"/>
            <a:ext cx="489570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事故發生時段分布 (2小時區間)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275" y="1666875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62150" y="5553075"/>
            <a:ext cx="554831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93914" y="5553075"/>
            <a:ext cx="554831" cy="1809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20023" y="1362075"/>
            <a:ext cx="489570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主要事故肇因統計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0325" y="1666875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10325" y="1790700"/>
          <a:ext cx="5105399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765720"/>
                <a:gridCol w="2807940"/>
                <a:gridCol w="1531739"/>
              </a:tblGrid>
              <a:tr h="332014"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排名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肇事原因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件數 (占比)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332014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未保持安全間距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447件 (21.6%)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014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不當駕車行為/其他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319件 (15.4%)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014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未依規定讓車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145件 (7.0%)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014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轉彎車未讓直行車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109件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2014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支線道未讓幹線道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89件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2016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操作不當 / 恍神分心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86件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72375" y="5553075"/>
            <a:ext cx="1228725" cy="1809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10325" y="1390650"/>
            <a:ext cx="133498" cy="1714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6275" y="17907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Noto Sans TC"/>
              </a:rPr>
              <a:t>16 - 18 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275" y="203835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Noto Sans TC"/>
              </a:rPr>
              <a:t>18 - 20 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275" y="22860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Noto Sans TC"/>
              </a:rPr>
              <a:t>08 - 10 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275" y="253365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Noto Sans TC"/>
              </a:rPr>
              <a:t>06 - 08 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275" y="27813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Noto Sans TC"/>
              </a:rPr>
              <a:t>12 - 14 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275" y="302895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Noto Sans TC"/>
              </a:rPr>
              <a:t>14 - 16 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275" y="32766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Noto Sans TC"/>
              </a:rPr>
              <a:t>20 - 22 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0325" y="2433637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76045" y="2433637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83985" y="2433637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10325" y="2767012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76045" y="2767012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83985" y="2767012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10325" y="3100387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76045" y="3100387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83985" y="3100387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10325" y="3433762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76045" y="3433762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83985" y="3433762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10325" y="3767137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76045" y="3767137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83985" y="3767137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10325" y="4100512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76045" y="4100512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983985" y="4100512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72645" y="1804987"/>
            <a:ext cx="67567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Noto Sans TC"/>
              </a:rPr>
              <a:t>318件 (15.3%)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63441" y="2052637"/>
            <a:ext cx="669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Noto Sans TC"/>
              </a:rPr>
              <a:t>244件 (11.7%)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27771" y="2300287"/>
            <a:ext cx="61733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Noto Sans TC"/>
              </a:rPr>
              <a:t>177件 (8.5%)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88335" y="2171700"/>
            <a:ext cx="209550" cy="2095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71295" y="2181225"/>
            <a:ext cx="1047750" cy="1905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2741" y="2181225"/>
            <a:ext cx="974228" cy="1905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88335" y="2505075"/>
            <a:ext cx="209550" cy="2095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71295" y="2514600"/>
            <a:ext cx="1218158" cy="1905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62741" y="2514600"/>
            <a:ext cx="974228" cy="1905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88335" y="2838450"/>
            <a:ext cx="209550" cy="20955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71295" y="2847975"/>
            <a:ext cx="914400" cy="1905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99799" y="2847975"/>
            <a:ext cx="899963" cy="1905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88335" y="3171825"/>
            <a:ext cx="209550" cy="20955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271295" y="3181350"/>
            <a:ext cx="1181100" cy="1905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514707" y="3181350"/>
            <a:ext cx="470148" cy="1905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88335" y="3505200"/>
            <a:ext cx="209550" cy="20955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271295" y="3514725"/>
            <a:ext cx="1181100" cy="1905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551765" y="3514725"/>
            <a:ext cx="396031" cy="19050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88335" y="3838575"/>
            <a:ext cx="209550" cy="20955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71295" y="3848100"/>
            <a:ext cx="1292274" cy="19050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551765" y="3848100"/>
            <a:ext cx="396031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0416" y="457200"/>
            <a:ext cx="1475333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162050"/>
            <a:ext cx="5505450" cy="502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62050"/>
            <a:ext cx="5505450" cy="5029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5457825"/>
            <a:ext cx="5105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5457825"/>
            <a:ext cx="5105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1790700"/>
            <a:ext cx="2495550" cy="12096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0175" y="1790700"/>
            <a:ext cx="2495550" cy="1209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8016" y="381000"/>
            <a:ext cx="448056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五、六、事故年齡層與車種分析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板橋分局交通安全週報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第 6 頁 / 共 8 頁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64241" y="523875"/>
            <a:ext cx="103733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5973" y="1362075"/>
            <a:ext cx="489570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事故當事人年齡層分布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" y="1666875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76275" y="1790700"/>
          <a:ext cx="51053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52698"/>
                <a:gridCol w="1211163"/>
                <a:gridCol w="1185564"/>
                <a:gridCol w="1355973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年齡區間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件數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占比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風險等級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18-30歲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488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23.5%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991B1B"/>
                          </a:solidFill>
                          <a:latin typeface="Noto Sans TC"/>
                        </a:rPr>
                        <a:t>最高極危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41-50歲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374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18.0%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D97706"/>
                          </a:solidFill>
                          <a:latin typeface="Noto Sans TC"/>
                        </a:rPr>
                        <a:t>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31-40歲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352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17.0%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D97706"/>
                          </a:solidFill>
                          <a:latin typeface="Noto Sans TC"/>
                        </a:rPr>
                        <a:t>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51-60歲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329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15.9%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61-70歲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323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15.6%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57450" y="5553075"/>
            <a:ext cx="1050131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20023" y="1362075"/>
            <a:ext cx="489570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事故參與車種結構分析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0325" y="1666875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10325" y="3152775"/>
          <a:ext cx="5105398" cy="619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79301"/>
                <a:gridCol w="1599158"/>
                <a:gridCol w="1098053"/>
                <a:gridCol w="1328886"/>
              </a:tblGrid>
              <a:tr h="309562"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其他車種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慢車(含微電車)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小貨車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大貨車/客車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件數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93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 (4%)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139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37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Noto Sans TC"/>
                        </a:rPr>
                        <a:t> 件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1775" y="5553075"/>
            <a:ext cx="4515296" cy="3524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0325" y="1390650"/>
            <a:ext cx="133498" cy="1714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76275" y="2424112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28973" y="2424112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0137" y="2424112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25701" y="2424112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275" y="2719387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28973" y="2719387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40137" y="2719387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25701" y="2719387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275" y="3014662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28973" y="3014662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0137" y="3014662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25701" y="3014662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275" y="3309937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28973" y="3309937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0137" y="3309937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25701" y="3309937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6275" y="3605212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28973" y="3605212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0137" y="3605212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25701" y="3605212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69100" y="1914525"/>
            <a:ext cx="177849" cy="228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534150" y="2181225"/>
            <a:ext cx="2247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Noto Sans TC"/>
              </a:rPr>
              <a:t>機車事故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4150" y="2352675"/>
            <a:ext cx="2247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EF4444"/>
                </a:solidFill>
                <a:latin typeface="Noto Sans TC Black"/>
              </a:rPr>
              <a:t>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4150" y="2714625"/>
            <a:ext cx="22479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991B1B"/>
                </a:solidFill>
                <a:latin typeface="Noto Sans TC"/>
              </a:rPr>
              <a:t>占比高達 66%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78950" y="1914525"/>
            <a:ext cx="177849" cy="2286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144000" y="2181225"/>
            <a:ext cx="2247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Noto Sans TC"/>
              </a:rPr>
              <a:t>小客車事故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2352675"/>
            <a:ext cx="2247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F172A"/>
                </a:solidFill>
                <a:latin typeface="Noto Sans TC Black"/>
              </a:rPr>
              <a:t>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2714625"/>
            <a:ext cx="22479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Noto Sans TC"/>
              </a:rPr>
              <a:t>占比 27%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10325" y="3757612"/>
            <a:ext cx="10793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89626" y="3757612"/>
            <a:ext cx="1599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88784" y="3757612"/>
            <a:ext cx="1098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86838" y="3757612"/>
            <a:ext cx="13288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96720" y="2371725"/>
            <a:ext cx="781794" cy="33337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17893" y="2371725"/>
            <a:ext cx="559296" cy="3333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8167" y="2176462"/>
            <a:ext cx="588764" cy="1905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80952" y="2176462"/>
            <a:ext cx="507206" cy="1905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86608" y="2185987"/>
            <a:ext cx="492472" cy="1905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20951" y="2171700"/>
            <a:ext cx="1165473" cy="20002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8167" y="2486025"/>
            <a:ext cx="588764" cy="1905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80952" y="2486025"/>
            <a:ext cx="507206" cy="1905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8167" y="2781300"/>
            <a:ext cx="588764" cy="1905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80952" y="2781300"/>
            <a:ext cx="507206" cy="1905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8167" y="3076575"/>
            <a:ext cx="588764" cy="1905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380952" y="3076575"/>
            <a:ext cx="507206" cy="1905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8167" y="3371850"/>
            <a:ext cx="588764" cy="1905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80952" y="3371850"/>
            <a:ext cx="507206" cy="1905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13340" y="3524250"/>
            <a:ext cx="262681" cy="1905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384208" y="3524250"/>
            <a:ext cx="336798" cy="1905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34662" y="3524250"/>
            <a:ext cx="262681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116" y="457200"/>
            <a:ext cx="1208633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162050"/>
            <a:ext cx="11239500" cy="502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5734050"/>
            <a:ext cx="10991850" cy="333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8016" y="381000"/>
            <a:ext cx="4889673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EF4444"/>
                </a:solidFill>
                <a:latin typeface="Noto Sans TC"/>
              </a:rPr>
              <a:t>七、A1類致命事故案件明細一覽表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板橋分局交通安全週報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第 7 頁 / 共 8 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0941" y="523875"/>
            <a:ext cx="103733" cy="13335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75" y="1285875"/>
          <a:ext cx="10991846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49473"/>
                <a:gridCol w="1318914"/>
                <a:gridCol w="2418159"/>
                <a:gridCol w="3077616"/>
                <a:gridCol w="1648717"/>
                <a:gridCol w="1978967"/>
              </a:tblGrid>
              <a:tr h="290512"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編號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發生時間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發生地點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肇因研判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車種別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TC"/>
                        </a:rPr>
                        <a:t>死亡類別 / 備註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3月24日 14:40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廣權路10號前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未注意車前狀況、侵入快車道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自小貨車 vs 慢車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慢車死亡事故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4月11日 18:07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環漢路4段034519燈桿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不明原因失控自撞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普重機車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普重機死亡事故 (自撞)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4月16日 14:53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大觀路1段28巷與僑中一街口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小貨車逆向行駛及未禮讓行人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自小貨車 vs 行人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行人死亡事故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5月12日 12:26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環河西路5段027236燈桿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不明原因失控自撞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普重機車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普重機死亡事故 (自撞)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6月24日 08:24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北門街與西門街口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公車行經行人穿越道未禮讓行人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民營客運 vs 行人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行人死亡事故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7月30日 18:09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環漢路4段032509燈桿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行人違規跨越雙黃線、未注意車前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普重機 vs 行人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行人死亡事故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0516"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8月03日 15:39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縣民大道二段南下016407燈桿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變換車道未注意、違規行駛內側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自小客 vs 微電車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 i="0" u="none">
                          <a:solidFill>
                            <a:srgbClr val="334155"/>
                          </a:solidFill>
                          <a:latin typeface="Noto Sans TC"/>
                        </a:rPr>
                        <a:t>微電車死亡 (高齡87歲)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23900" y="5819775"/>
            <a:ext cx="5203477" cy="161925"/>
          </a:xfrm>
          <a:prstGeom prst="rect">
            <a:avLst/>
          </a:prstGeom>
          <a:noFill/>
        </p:spPr>
        <p:txBody>
          <a:bodyPr wrap="square" lIns="1062781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91B1B"/>
                </a:solidFill>
                <a:latin typeface="Noto Sans TC"/>
              </a:rPr>
              <a:t> A1案件防制結論：</a:t>
            </a:r>
            <a:r>
              <a:rPr b="0" sz="900" i="0" u="none">
                <a:solidFill>
                  <a:srgbClr val="1E293B"/>
                </a:solidFill>
                <a:latin typeface="Noto Sans TC"/>
              </a:rPr>
              <a:t> 自撞事故2件、行人路口與違規 crossing 3件、高齡者事故1件，應列入改善追蹤。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75" y="188118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9548" y="188118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463" y="188118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86622" y="188118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239" y="188118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12957" y="188118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0075" y="216693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9548" y="216693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68463" y="216693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86622" y="216693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64239" y="216693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12957" y="216693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075" y="245268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9548" y="245268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68463" y="245268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86622" y="245268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64239" y="245268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12957" y="245268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0075" y="273843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9548" y="273843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463" y="273843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86622" y="273843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64239" y="273843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12957" y="273843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0075" y="302418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9548" y="302418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68463" y="302418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86622" y="302418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64239" y="302418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12957" y="302418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0075" y="330993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49548" y="330993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68463" y="330993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86622" y="330993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64239" y="330993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12957" y="330993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0075" y="359568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49548" y="359568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68463" y="359568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86622" y="359568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64239" y="359568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12957" y="359568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5838825"/>
            <a:ext cx="88999" cy="1143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0083" y="1666875"/>
            <a:ext cx="857696" cy="1714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3713" y="1666875"/>
            <a:ext cx="813048" cy="1714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2316" y="1666875"/>
            <a:ext cx="800100" cy="1714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3208" y="1952625"/>
            <a:ext cx="851445" cy="1714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63713" y="1952625"/>
            <a:ext cx="1245096" cy="1714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76991" y="1952625"/>
            <a:ext cx="1250900" cy="1714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80083" y="2238375"/>
            <a:ext cx="857696" cy="1714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63713" y="2238375"/>
            <a:ext cx="1562397" cy="1714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02316" y="2238375"/>
            <a:ext cx="800100" cy="17145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80083" y="2524125"/>
            <a:ext cx="857696" cy="1714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63713" y="2524125"/>
            <a:ext cx="1359396" cy="17145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76991" y="2524125"/>
            <a:ext cx="1250900" cy="17145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80083" y="2809875"/>
            <a:ext cx="857696" cy="1714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63713" y="2809875"/>
            <a:ext cx="1028700" cy="17145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02316" y="2809875"/>
            <a:ext cx="800100" cy="17145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80083" y="3095625"/>
            <a:ext cx="857696" cy="17145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63713" y="3095625"/>
            <a:ext cx="1245096" cy="17145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02316" y="3095625"/>
            <a:ext cx="800100" cy="17145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80083" y="3381375"/>
            <a:ext cx="857696" cy="17145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63713" y="3381375"/>
            <a:ext cx="1638746" cy="17145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70442" y="3381375"/>
            <a:ext cx="1263848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116" y="457200"/>
            <a:ext cx="1208633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162050"/>
            <a:ext cx="5524500" cy="502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162050"/>
            <a:ext cx="5524500" cy="5029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2466975"/>
            <a:ext cx="5124450" cy="3524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1905000"/>
            <a:ext cx="5124450" cy="3524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5543550"/>
            <a:ext cx="5124450" cy="447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8016" y="381000"/>
            <a:ext cx="512064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八、交通大執法專案與具體執行策略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板橋分局交通安全週報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Noto Sans TC"/>
              </a:rPr>
              <a:t>第 8 頁 / 共 8 頁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30941" y="523875"/>
            <a:ext cx="103733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5973" y="1362075"/>
            <a:ext cx="491475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專案時程與勤務編排方式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275" y="1666875"/>
            <a:ext cx="5124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1905000"/>
            <a:ext cx="5124450" cy="4476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00973" y="1362075"/>
            <a:ext cx="491475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TC"/>
              </a:rPr>
              <a:t>獎勵規定與KPI目標（激勵機制）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91275" y="1666875"/>
            <a:ext cx="5124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0100" y="2038350"/>
            <a:ext cx="923032" cy="161925"/>
          </a:xfrm>
          <a:prstGeom prst="rect">
            <a:avLst/>
          </a:prstGeom>
          <a:noFill/>
        </p:spPr>
        <p:txBody>
          <a:bodyPr wrap="square" lIns="118616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Noto Sans TC"/>
              </a:rPr>
              <a:t>專案日程：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5548" y="2028825"/>
            <a:ext cx="1783109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0100" y="2590800"/>
            <a:ext cx="4876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Noto Sans TC"/>
              </a:rPr>
              <a:t>勤務實施方式：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275" y="1390650"/>
            <a:ext cx="133498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98084" y="5686425"/>
            <a:ext cx="118616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2047875"/>
            <a:ext cx="118616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2975" y="2868930"/>
            <a:ext cx="47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T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00" y="2867025"/>
            <a:ext cx="4686300" cy="426541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334155"/>
                </a:solidFill>
                <a:latin typeface="Noto Sans TC"/>
              </a:rPr>
              <a:t>熱點編排：</a:t>
            </a:r>
            <a:r>
              <a:rPr b="0" sz="1050" i="0" u="none">
                <a:solidFill>
                  <a:srgbClr val="334155"/>
                </a:solidFill>
                <a:latin typeface="Noto Sans TC"/>
              </a:rPr>
              <a:t>各派出所、交通分隊針對易肇事熱點編排專案勤務，加強取締超速與嚴重違規。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" y="3371671"/>
            <a:ext cx="47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T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600" y="3369766"/>
            <a:ext cx="4686300" cy="891182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334155"/>
                </a:solidFill>
                <a:latin typeface="Noto Sans TC"/>
              </a:rPr>
              <a:t>A1路段重點執法：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4150" y="2910482"/>
            <a:ext cx="4838700" cy="825698"/>
          </a:xfrm>
          <a:prstGeom prst="rect">
            <a:avLst/>
          </a:prstGeom>
          <a:noFill/>
        </p:spPr>
        <p:txBody>
          <a:bodyPr wrap="square" lIns="1151036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125" i="0" u="none">
                <a:solidFill>
                  <a:srgbClr val="0F172A"/>
                </a:solidFill>
                <a:latin typeface="Noto Sans TC"/>
              </a:rPr>
              <a:t> 嘉獎核予標準：</a:t>
            </a:r>
            <a:r>
              <a:t>
</a:t>
            </a:r>
            <a:r>
              <a:rPr b="0" sz="1125" i="0" u="none">
                <a:solidFill>
                  <a:srgbClr val="0F172A"/>
                </a:solidFill>
                <a:latin typeface="Noto Sans TC"/>
              </a:rPr>
              <a:t> 專案期間依據上開熱點編排勤務，每執行超速取締勤務達 ，且總取締件數不低於 者，核予</a:t>
            </a:r>
            <a:r>
              <a:rPr b="1" sz="1125" i="0" u="none">
                <a:solidFill>
                  <a:srgbClr val="1E3A8A"/>
                </a:solidFill>
                <a:latin typeface="Noto Sans TC"/>
              </a:rPr>
              <a:t>嘉獎一次</a:t>
            </a:r>
            <a:r>
              <a:rPr b="0" sz="1125" i="0" u="none">
                <a:solidFill>
                  <a:srgbClr val="0F172A"/>
                </a:solidFill>
                <a:latin typeface="Noto Sans TC"/>
              </a:rPr>
              <a:t>。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4150" y="3850481"/>
            <a:ext cx="4838700" cy="57328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45762" y="3191470"/>
            <a:ext cx="695622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74012" y="3482875"/>
            <a:ext cx="524172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10350" y="3964781"/>
            <a:ext cx="96440" cy="1238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66800" y="3623042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TC"/>
              </a:rPr>
              <a:t>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621137"/>
            <a:ext cx="4533900" cy="21327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Noto Sans TC"/>
              </a:rPr>
              <a:t>：於加強違規取締。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6800" y="3836312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TC"/>
              </a:rP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834407"/>
            <a:ext cx="4533900" cy="21327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Noto Sans TC"/>
              </a:rPr>
              <a:t>：於加強取締超速與違規。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800" y="404958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TC"/>
              </a:rPr>
              <a:t>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047678"/>
            <a:ext cx="4533900" cy="21327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Noto Sans TC"/>
              </a:rPr>
              <a:t>：於嚴加稽查。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34150" y="2967632"/>
            <a:ext cx="111174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3000" y="3640187"/>
            <a:ext cx="914400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24100" y="3640187"/>
            <a:ext cx="647700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43000" y="3853457"/>
            <a:ext cx="914400" cy="1905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24100" y="3853457"/>
            <a:ext cx="514350" cy="1905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3000" y="4066728"/>
            <a:ext cx="514350" cy="1905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24050" y="4066728"/>
            <a:ext cx="125536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