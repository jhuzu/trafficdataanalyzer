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F4E78"/>
                </a:solidFill>
                <a:latin typeface="PingFang TC"/>
              </a:defRPr>
            </a:pPr>
            <a:r>
              <a:t>交通事故分析週報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PingFang TC"/>
              </a:defRPr>
            </a:pPr>
            <a:r>
              <a:t>115年1月1日至2月28日｜新式版本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C9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645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8"/>
                </a:solidFill>
                <a:latin typeface="PingFang TC"/>
              </a:defRPr>
            </a:pPr>
            <a:r>
              <a:t>A1 + A2 事故總件數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38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D7D31"/>
                </a:solidFill>
                <a:latin typeface="PingFang TC"/>
              </a:defRPr>
            </a:pPr>
            <a:r>
              <a:t>6 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231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2606D"/>
                </a:solidFill>
                <a:latin typeface="PingFang TC"/>
              </a:defRPr>
            </a:pPr>
            <a:r>
              <a:t>未提供同期資料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C9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45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8"/>
                </a:solidFill>
                <a:latin typeface="PingFang TC"/>
              </a:defRPr>
            </a:pPr>
            <a:r>
              <a:t>A1 事故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38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D7D31"/>
                </a:solidFill>
                <a:latin typeface="PingFang TC"/>
              </a:defRPr>
            </a:pPr>
            <a:r>
              <a:t>1 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231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2606D"/>
                </a:solidFill>
                <a:latin typeface="PingFang TC"/>
              </a:defRPr>
            </a:pPr>
            <a:r>
              <a:t>未提供同期資料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42900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C9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8"/>
                </a:solidFill>
                <a:latin typeface="PingFang TC"/>
              </a:defRPr>
            </a:pPr>
            <a:r>
              <a:t>A2 事故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38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ED7D31"/>
                </a:solidFill>
                <a:latin typeface="PingFang TC"/>
              </a:defRPr>
            </a:pPr>
            <a:r>
              <a:t>5 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23160"/>
            <a:ext cx="2926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2606D"/>
                </a:solidFill>
                <a:latin typeface="PingFang TC"/>
              </a:defRPr>
            </a:pPr>
            <a:r>
              <a:t>未提供同期資料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26364A"/>
                </a:solidFill>
                <a:latin typeface="PingFang TC"/>
              </a:defRPr>
            </a:pPr>
            <a:r>
              <a:t>本期統計6件；易肇事路段以文化路（5件）為首，主要肇因為未保持安全距離（3件），應依熱點與高風險時段持續部署勤務。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F4E78"/>
                </a:solidFill>
                <a:latin typeface="PingFang TC"/>
              </a:defRPr>
            </a:pPr>
            <a:r>
              <a:t>勤務建議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81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6364A"/>
                </a:solidFill>
                <a:latin typeface="PingFang TC"/>
              </a:defRPr>
            </a:pPr>
            <a:r>
              <a:t>建議以文化路及18-20列為優先勤務區段，針對未保持安全距離加強宣導、攔查及違規取締。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F4E78"/>
                </a:solidFill>
                <a:latin typeface="PingFang TC"/>
              </a:defRPr>
            </a:pPr>
            <a:r>
              <a:t>易肇事路段排行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PingFang TC"/>
              </a:defRPr>
            </a:pPr>
            <a:r>
              <a:t>115年1月1日至2月28日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F4E78"/>
                </a:solidFill>
                <a:latin typeface="PingFang TC"/>
              </a:defRPr>
            </a:pPr>
            <a:r>
              <a:t>易肇事路口排行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PingFang TC"/>
              </a:defRPr>
            </a:pPr>
            <a:r>
              <a:t>115年1月1日至2月28日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97280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F4E78"/>
                </a:solidFill>
                <a:latin typeface="PingFang TC"/>
              </a:defRPr>
            </a:pPr>
            <a:r>
              <a:t>主要肇因與事故時段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PingFang TC"/>
              </a:defRPr>
            </a:pPr>
            <a:r>
              <a:t>115年1月1日至2月28日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486400" cy="42062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44068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8"/>
                </a:solidFill>
                <a:latin typeface="PingFang TC"/>
              </a:defRPr>
            </a:pPr>
            <a:r>
              <a:t>未保持安全距離及自用小客車為本期優先關注項目。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F4E78"/>
                </a:solidFill>
                <a:latin typeface="PingFang TC"/>
              </a:defRPr>
            </a:pPr>
            <a:r>
              <a:t>年齡與車種風險分布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PingFang TC"/>
              </a:defRPr>
            </a:pPr>
            <a:r>
              <a:t>115年1月1日至2月28日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486400" cy="42062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440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F4E78"/>
                </a:solidFill>
                <a:latin typeface="PingFang TC"/>
              </a:defRPr>
            </a:pPr>
            <a:r>
              <a:t>A1 事故案件明細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PingFang TC"/>
              </a:defRPr>
            </a:pPr>
            <a:r>
              <a:t>115年1月1日至2月28日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22402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編號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發生時間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發生地點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肇因研判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車種別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死亡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22402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64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64A"/>
                          </a:solidFill>
                        </a:defRPr>
                      </a:pPr>
                      <a:r>
                        <a:t>2月10日 1740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64A"/>
                          </a:solidFill>
                        </a:defRPr>
                      </a:pPr>
                      <a:r>
                        <a:t>民生路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64A"/>
                          </a:solidFill>
                        </a:defRPr>
                      </a:pPr>
                      <a:r>
                        <a:t>行人未依規定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64A"/>
                          </a:solidFill>
                        </a:defRPr>
                      </a:pPr>
                      <a:r>
                        <a:t>行人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64A"/>
                          </a:solidFill>
                        </a:defRPr>
                      </a:pPr>
                      <a:r>
                        <a:t>1人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F4E78"/>
                </a:solidFill>
                <a:latin typeface="PingFang TC"/>
              </a:defRPr>
            </a:pPr>
            <a:r>
              <a:t>結論與防制作為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2606D"/>
                </a:solidFill>
                <a:latin typeface="PingFang TC"/>
              </a:defRPr>
            </a:pPr>
            <a:r>
              <a:t>115年1月1日至2月28日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8"/>
                </a:solidFill>
                <a:latin typeface="PingFang TC"/>
              </a:defRPr>
            </a:pPr>
            <a:r>
              <a:t>分析結論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424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6364A"/>
                </a:solidFill>
                <a:latin typeface="PingFang TC"/>
              </a:defRPr>
            </a:pPr>
            <a:r>
              <a:t>本期統計6件；易肇事路段以文化路（5件）為首，主要肇因為未保持安全距離（3件），應依熱點與高風險時段持續部署勤務。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8"/>
                </a:solidFill>
                <a:latin typeface="PingFang TC"/>
              </a:defRPr>
            </a:pPr>
            <a:r>
              <a:t>建議勤務部署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424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26364A"/>
                </a:solidFill>
                <a:latin typeface="PingFang TC"/>
              </a:defRPr>
            </a:pPr>
            <a:r>
              <a:t>建議以文化路及18-20列為優先勤務區段，針對未保持安全距離加強宣導、攔查及違規取締。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2606D"/>
                </a:solidFill>
                <a:latin typeface="PingFang TC"/>
              </a:defRPr>
            </a:pPr>
            <a:r>
              <a:t>統計口徑：以 Excel「件數」欄加總；本檔案由本機公開 Python 套件離線生成。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