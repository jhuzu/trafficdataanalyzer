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5" r:id="rId3"/>
    <p:sldMasterId id="2147483656" r:id="rId4"/>
    <p:sldMasterId id="2147483657" r:id="rId5"/>
    <p:sldMasterId id="2147483658" r:id="rId6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5"/>
    <p:restoredTop sz="94692"/>
  </p:normalViewPr>
  <p:slideViewPr>
    <p:cSldViewPr snapToGrid="0">
      <p:cViewPr varScale="1">
        <p:scale>
          <a:sx n="110" d="100"/>
          <a:sy n="110" d="100"/>
        </p:scale>
        <p:origin x="1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zh-TW" altLang="en-US" sz="2128" b="1" i="0" u="none" cap="none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十大易肇事路口</a:t>
            </a:r>
          </a:p>
        </c:rich>
      </c:tx>
      <c:layout>
        <c:manualLayout>
          <c:xMode val="edge"/>
          <c:yMode val="edge"/>
          <c:x val="0.37134972139191796"/>
          <c:y val="4.2594237234473559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7.4118341571707116E-2"/>
          <c:y val="0.17610838925364164"/>
          <c:w val="0.90401463090838285"/>
          <c:h val="0.714606536572015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'TJ26A01P_01 (38)'!$A$5:$B$5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1"/>
          <c:dLbls>
            <c:dLbl>
              <c:idx val="0"/>
              <c:spPr>
                <a:noFill/>
                <a:ln>
                  <a:noFill/>
                </a:ln>
              </c:spPr>
              <c:txPr>
                <a:bodyPr anchorCtr="1"/>
                <a:lstStyle/>
                <a:p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92B-424D-9F5C-9854185A4356}"/>
                </c:ext>
              </c:extLst>
            </c:dLbl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(38)'!$C$5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92B-424D-9F5C-9854185A4356}"/>
            </c:ext>
          </c:extLst>
        </c:ser>
        <c:ser>
          <c:idx val="1"/>
          <c:order val="1"/>
          <c:tx>
            <c:strRef>
              <c:f>'TJ26A01P_01 (38)'!$A$6:$B$6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1"/>
          <c:dLbls>
            <c:dLbl>
              <c:idx val="0"/>
              <c:spPr>
                <a:noFill/>
                <a:ln>
                  <a:noFill/>
                </a:ln>
              </c:spPr>
              <c:txPr>
                <a:bodyPr anchorCtr="1"/>
                <a:lstStyle/>
                <a:p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92B-424D-9F5C-9854185A4356}"/>
                </c:ext>
              </c:extLst>
            </c:dLbl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(38)'!$C$6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692B-424D-9F5C-9854185A4356}"/>
            </c:ext>
          </c:extLst>
        </c:ser>
        <c:ser>
          <c:idx val="2"/>
          <c:order val="2"/>
          <c:tx>
            <c:strRef>
              <c:f>'TJ26A01P_01 (38)'!$A$7:$B$7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rgbClr val="A5A5A5"/>
            </a:solidFill>
            <a:ln>
              <a:noFill/>
            </a:ln>
          </c:spPr>
          <c:invertIfNegative val="1"/>
          <c:dLbls>
            <c:dLbl>
              <c:idx val="0"/>
              <c:spPr>
                <a:noFill/>
                <a:ln>
                  <a:noFill/>
                </a:ln>
              </c:spPr>
              <c:txPr>
                <a:bodyPr anchorCtr="1"/>
                <a:lstStyle/>
                <a:p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92B-424D-9F5C-9854185A4356}"/>
                </c:ext>
              </c:extLst>
            </c:dLbl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(38)'!$C$7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692B-424D-9F5C-9854185A4356}"/>
            </c:ext>
          </c:extLst>
        </c:ser>
        <c:ser>
          <c:idx val="3"/>
          <c:order val="3"/>
          <c:tx>
            <c:strRef>
              <c:f>'TJ26A01P_01 (38)'!$A$8:$B$8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(38)'!$C$8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692B-424D-9F5C-9854185A4356}"/>
            </c:ext>
          </c:extLst>
        </c:ser>
        <c:ser>
          <c:idx val="4"/>
          <c:order val="4"/>
          <c:tx>
            <c:strRef>
              <c:f>'TJ26A01P_01 (38)'!$A$9:$B$9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(38)'!$C$9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692B-424D-9F5C-9854185A4356}"/>
            </c:ext>
          </c:extLst>
        </c:ser>
        <c:ser>
          <c:idx val="5"/>
          <c:order val="5"/>
          <c:tx>
            <c:strRef>
              <c:f>'TJ26A01P_01 (38)'!$A$10:$B$10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(38)'!$C$10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692B-424D-9F5C-9854185A4356}"/>
            </c:ext>
          </c:extLst>
        </c:ser>
        <c:ser>
          <c:idx val="6"/>
          <c:order val="6"/>
          <c:tx>
            <c:strRef>
              <c:f>'TJ26A01P_01 (38)'!$A$11:$B$11</c:f>
              <c:strCache>
                <c:ptCount val="1"/>
                <c:pt idx="0">
                  <c:v>7</c:v>
                </c:pt>
              </c:strCache>
            </c:strRef>
          </c:tx>
          <c:spPr>
            <a:solidFill>
              <a:srgbClr val="255E91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(38)'!$C$11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692B-424D-9F5C-9854185A4356}"/>
            </c:ext>
          </c:extLst>
        </c:ser>
        <c:ser>
          <c:idx val="7"/>
          <c:order val="7"/>
          <c:tx>
            <c:strRef>
              <c:f>'TJ26A01P_01 (38)'!$A$12:$B$12</c:f>
              <c:strCache>
                <c:ptCount val="1"/>
                <c:pt idx="0">
                  <c:v>8</c:v>
                </c:pt>
              </c:strCache>
            </c:strRef>
          </c:tx>
          <c:spPr>
            <a:solidFill>
              <a:srgbClr val="9E480E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692B-424D-9F5C-9854185A4356}"/>
            </c:ext>
          </c:extLst>
        </c:ser>
        <c:ser>
          <c:idx val="8"/>
          <c:order val="8"/>
          <c:tx>
            <c:strRef>
              <c:f>'TJ26A01P_01 (38)'!$A$13:$B$13</c:f>
              <c:strCache>
                <c:ptCount val="1"/>
                <c:pt idx="0">
                  <c:v>9</c:v>
                </c:pt>
              </c:strCache>
            </c:strRef>
          </c:tx>
          <c:spPr>
            <a:solidFill>
              <a:srgbClr val="636363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(38)'!$C$13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692B-424D-9F5C-9854185A4356}"/>
            </c:ext>
          </c:extLst>
        </c:ser>
        <c:ser>
          <c:idx val="9"/>
          <c:order val="9"/>
          <c:tx>
            <c:strRef>
              <c:f>'TJ26A01P_01 (38)'!$A$14:$B$14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rgbClr val="99730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'TJ26A01P_01 (38)'!$C$14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692B-424D-9F5C-9854185A435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47"/>
        <c:axId val="1785287135"/>
        <c:axId val="1912287631"/>
      </c:barChart>
      <c:catAx>
        <c:axId val="1785287135"/>
        <c:scaling>
          <c:orientation val="minMax"/>
        </c:scaling>
        <c:delete val="0"/>
        <c:axPos val="b"/>
        <c:majorGridlines>
          <c:spPr>
            <a:ln w="9525" cmpd="sng">
              <a:solidFill>
                <a:schemeClr val="dk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mpd="sng">
            <a:solidFill>
              <a:schemeClr val="dk1">
                <a:lumMod val="15000"/>
                <a:lumOff val="85000"/>
              </a:schemeClr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97" b="0" i="0" u="none" cap="none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lt"/>
                <a:cs typeface="+mn-lt"/>
              </a:defRPr>
            </a:pPr>
            <a:endParaRPr lang="zh-TW"/>
          </a:p>
        </c:txPr>
        <c:crossAx val="1912287631"/>
        <c:crosses val="autoZero"/>
        <c:auto val="1"/>
        <c:lblAlgn val="ctr"/>
        <c:lblOffset val="100"/>
        <c:noMultiLvlLbl val="1"/>
      </c:catAx>
      <c:valAx>
        <c:axId val="1912287631"/>
        <c:scaling>
          <c:orientation val="minMax"/>
        </c:scaling>
        <c:delete val="0"/>
        <c:axPos val="l"/>
        <c:majorGridlines>
          <c:spPr>
            <a:ln w="9525" cmpd="sng">
              <a:solidFill>
                <a:schemeClr val="dk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97" b="0" i="0" u="none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lt"/>
                <a:cs typeface="+mn-lt"/>
              </a:defRPr>
            </a:pPr>
            <a:endParaRPr lang="zh-TW"/>
          </a:p>
        </c:txPr>
        <c:crossAx val="178528713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</c:spPr>
    </c:plotArea>
    <c:plotVisOnly val="1"/>
    <c:dispBlanksAs val="zero"/>
    <c:showDLblsOverMax val="1"/>
  </c:chart>
  <c:spPr>
    <a:solidFill>
      <a:schemeClr val="lt1"/>
    </a:solidFill>
    <a:ln w="9525" cmpd="sng">
      <a:noFill/>
    </a:ln>
  </c:spPr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D7F6E-F9C9-4A9A-A2E9-964E20417403}" type="doc">
      <dgm:prSet loTypeId="urn:microsoft.com/office/officeart/2005/8/layout/default" qsTypeId="urn:microsoft.com/office/officeart/2005/8/quickstyle/simple1" csTypeId="urn:microsoft.com/office/officeart/2005/8/colors/accent1_2"/>
      <dgm:spPr/>
      <dgm:t>
        <a:bodyPr/>
        <a:lstStyle/>
        <a:p>
          <a:endParaRPr/>
        </a:p>
      </dgm:t>
    </dgm:pt>
    <dgm:pt modelId="{DF96B59F-C891-9F42-A2D7-94416E39AC96}" type="pres">
      <dgm:prSet presAssocID="{9C3D7F6E-F9C9-4A9A-A2E9-964E20417403}" presName="diagram" presStyleCnt="0">
        <dgm:presLayoutVars>
          <dgm:dir/>
          <dgm:resizeHandles val="exact"/>
        </dgm:presLayoutVars>
      </dgm:prSet>
      <dgm:spPr/>
    </dgm:pt>
  </dgm:ptLst>
  <dgm:cxnLst>
    <dgm:cxn modelId="{8E87D44B-5B8E-844C-9535-4B2F387B31C4}" type="presOf" srcId="{9C3D7F6E-F9C9-4A9A-A2E9-964E20417403}" destId="{DF96B59F-C891-9F42-A2D7-94416E39AC96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This deck preserves the original report style and replaces approved fields with {{TOKEN}} values.</a:t>
            </a:r>
          </a:p>
          <a:p>
            <a:r>
              <a:t>Use Excel 件數 as the aggregation measure.</a:t>
            </a:r>
          </a:p>
          <a:p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>
            <a:r>
              <a:t>Charts are redrawn by the generator from the corresponding token groups. Map frames are manual placeholders and are not filled by the generator.</a:t>
            </a:r>
          </a:p>
          <a:p>
            <a:r>
              <a:t>Long labels must be shortened before insertion; do not change frame geometry.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B0DCB2-CEFF-404D-8C28-7A2ED921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43" y="296655"/>
            <a:ext cx="8229601" cy="972107"/>
          </a:xfrm>
        </p:spPr>
        <p:txBody>
          <a:bodyPr>
            <a:normAutofit/>
          </a:bodyPr>
          <a:lstStyle>
            <a:lvl1pPr>
              <a:buNone/>
              <a:defRPr sz="2550" b="0" kern="1200" cap="none" spc="0">
                <a:ln>
                  <a:noFill/>
                </a:ln>
                <a:solidFill>
                  <a:schemeClr val="tx1"/>
                </a:solidFill>
                <a:latin typeface="標楷體"/>
                <a:ea typeface="標楷體"/>
                <a:cs typeface="標楷體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817F58-D635-40B6-AFAE-37C4475D1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4896544"/>
          </a:xfrm>
        </p:spPr>
        <p:txBody>
          <a:bodyPr/>
          <a:lstStyle>
            <a:lvl1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5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10" y="3404"/>
            <a:ext cx="9165365" cy="6857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31AE795-87F1-4440-80C4-4EB6ABD825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defTabSz="685800">
              <a:buNone/>
            </a:pPr>
            <a:fld id="{C04973F0-E5E5-4ECC-85D7-C5D3A29E4D8F}" type="datetimeFigureOut">
              <a:rPr>
                <a:solidFill>
                  <a:prstClr val="black">
                    <a:tint val="75000"/>
                  </a:prstClr>
                </a:solidFill>
              </a:rPr>
              <a:t>2026/8/10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1FBB791-B6BC-4E47-A4B7-868498D235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defTabSz="685800">
              <a:buNone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229816-C0C7-4530-8484-D28D892A2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>
              <a:buNone/>
            </a:pPr>
            <a:fld id="{BEC84D97-66BB-4CE3-8DD1-A5E1B950086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F6F7-2582-4135-99D1-95190C87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75F18-F03E-4C4A-B5A0-0E57D2466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2DE99-97FB-497F-B88F-13AEEED71D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45AB5A-8E6F-49DD-BD81-9DAF71C4A4B5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A0BA6-85D4-4CE1-91CF-D77B6289CC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3481B-33D1-4696-8171-E5DC293A4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4814C81-BE6E-4C9D-869D-B5AB15501E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062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53060" name="Rectangle 3">
            <a:extLst>
              <a:ext uri="{FF2B5EF4-FFF2-40B4-BE49-F238E27FC236}">
                <a16:creationId xmlns:a16="http://schemas.microsoft.com/office/drawing/2014/main" id="{143BDF4F-CCBD-4351-914F-FC3C91A53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556" y="1484784"/>
            <a:ext cx="8235537" cy="47525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按一下以編輯母片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4D9F72D-DE9B-4D9A-949D-F9E830BA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43" y="188934"/>
            <a:ext cx="8229601" cy="9721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F5A7B64-4C79-4709-8D1D-9EC3DCCFC4C4}"/>
              </a:ext>
            </a:extLst>
          </p:cNvPr>
          <p:cNvSpPr>
            <a:spLocks noGrp="1"/>
          </p:cNvSpPr>
          <p:nvPr/>
        </p:nvSpPr>
        <p:spPr>
          <a:xfrm>
            <a:off x="3707904" y="6507337"/>
            <a:ext cx="172819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fld id="{3041F4FC-3B41-4BAA-81BB-5B6275365D34}" type="slidenum">
              <a:rPr sz="135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‹#›</a:t>
            </a:fld>
            <a:endParaRPr sz="135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2pPr>
      <a:lvl3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3pPr>
      <a:lvl4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4pPr>
      <a:lvl5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5pPr>
      <a:lvl6pPr marL="3429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6pPr>
      <a:lvl7pPr marL="6858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7pPr>
      <a:lvl8pPr marL="10287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8pPr>
      <a:lvl9pPr marL="13716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9pPr>
    </p:titleStyle>
    <p:bodyStyle>
      <a:lvl1pPr marL="0" indent="0" algn="l">
        <a:spcBef>
          <a:spcPct val="20000"/>
        </a:spcBef>
        <a:spcAft>
          <a:spcPct val="0"/>
        </a:spcAft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342900" indent="0" algn="l">
        <a:spcBef>
          <a:spcPct val="20000"/>
        </a:spcBef>
        <a:spcAft>
          <a:spcPct val="0"/>
        </a:spcAft>
        <a:buNone/>
        <a:defRPr sz="21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0" algn="l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0287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marL="13716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932245D-7DD2-461F-A8E7-D0EEA50BD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21487F-3E5B-474B-A325-3590CD0D8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CD9078-AC1F-42B9-9592-62B04C25699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973F0-E5E5-4ECC-85D7-C5D3A29E4D8F}" type="datetimeFigureOut">
              <a:t>2026/8/10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82CEE5-3A5F-4B37-8EBC-2279823B09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B25DF6-0C25-44B9-9024-AFCD19E43CD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84D97-66BB-4CE3-8DD1-A5E1B950086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E541D2-DF35-43C1-9120-8DEC5E26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FC4614-D8FF-4C0F-B855-B394734C7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1626D0-1593-46CC-8F09-6769D34D90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752A-2D21-43FF-89C5-0F271582C1A9}" type="datetime1">
              <a:t>2026/8/10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5D775B-3B27-4542-9199-E3E2C623A14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29E5F1-439F-4ECE-9794-6AD439DE6A5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fld id="{F1C8CD1E-C0AC-407A-8ED4-15814CBCC3E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/>
          <a:ea typeface="標楷體"/>
          <a:cs typeface="標楷體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標楷體"/>
          <a:ea typeface="標楷體"/>
          <a:cs typeface="標楷體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標楷體"/>
          <a:ea typeface="標楷體"/>
          <a:cs typeface="標楷體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標楷體"/>
          <a:ea typeface="標楷體"/>
          <a:cs typeface="標楷體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06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" y="0"/>
            <a:ext cx="9134829" cy="6858000"/>
          </a:xfrm>
          <a:prstGeom prst="rect">
            <a:avLst/>
          </a:prstGeom>
        </p:spPr>
      </p:pic>
      <p:sp>
        <p:nvSpPr>
          <p:cNvPr id="1453060" name="Rectangle 3">
            <a:extLst>
              <a:ext uri="{FF2B5EF4-FFF2-40B4-BE49-F238E27FC236}">
                <a16:creationId xmlns:a16="http://schemas.microsoft.com/office/drawing/2014/main" id="{A802CAA5-E9B2-4AAA-B8D1-70DE49C7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556" y="1484784"/>
            <a:ext cx="8235537" cy="47525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按一下以編輯母片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D443EB-9533-4A26-A7CD-AC192770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43" y="188934"/>
            <a:ext cx="8229601" cy="9721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6447F5-D372-4F51-BA4B-4AA9E8AF7D13}"/>
              </a:ext>
            </a:extLst>
          </p:cNvPr>
          <p:cNvSpPr>
            <a:spLocks noGrp="1"/>
          </p:cNvSpPr>
          <p:nvPr/>
        </p:nvSpPr>
        <p:spPr>
          <a:xfrm>
            <a:off x="3707904" y="6507337"/>
            <a:ext cx="172819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fld id="{3041F4FC-3B41-4BAA-81BB-5B6275365D34}" type="slidenum">
              <a:rPr sz="135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‹#›</a:t>
            </a:fld>
            <a:endParaRPr sz="135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53067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56" y="6287227"/>
            <a:ext cx="547238" cy="53953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DD56E94-5074-49A0-B398-66F944772F08}"/>
              </a:ext>
            </a:extLst>
          </p:cNvPr>
          <p:cNvSpPr>
            <a:spLocks noGrp="1"/>
          </p:cNvSpPr>
          <p:nvPr/>
        </p:nvSpPr>
        <p:spPr>
          <a:xfrm>
            <a:off x="7150380" y="6376533"/>
            <a:ext cx="21606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新北市政府警察局土城分局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2pPr>
      <a:lvl3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3pPr>
      <a:lvl4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4pPr>
      <a:lvl5pPr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5pPr>
      <a:lvl6pPr marL="3429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6pPr>
      <a:lvl7pPr marL="6858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7pPr>
      <a:lvl8pPr marL="10287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8pPr>
      <a:lvl9pPr marL="13716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9pPr>
    </p:titleStyle>
    <p:bodyStyle>
      <a:lvl1pPr marL="0" indent="0" algn="l">
        <a:spcBef>
          <a:spcPct val="20000"/>
        </a:spcBef>
        <a:spcAft>
          <a:spcPct val="0"/>
        </a:spcAft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342900" indent="0" algn="l">
        <a:spcBef>
          <a:spcPct val="20000"/>
        </a:spcBef>
        <a:spcAft>
          <a:spcPct val="0"/>
        </a:spcAft>
        <a:buNone/>
        <a:defRPr sz="21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0" algn="l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0287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marL="13716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8233451-8BC6-4006-BCF8-1848DD5A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9CF1CA-1FDC-4E6D-9DE4-2988224FF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133D8E-98A8-4205-BB36-CD63384EAED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35F036-429D-4487-961C-101B6FA5C6D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9D3406-222D-4A37-9D52-ABBD46413ED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919423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fld id="{F1C8CD1E-C0AC-407A-8ED4-15814CBCC3E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/>
          <a:ea typeface="標楷體"/>
          <a:cs typeface="標楷體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標楷體"/>
          <a:ea typeface="標楷體"/>
          <a:cs typeface="標楷體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標楷體"/>
          <a:ea typeface="標楷體"/>
          <a:cs typeface="標楷體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標楷體"/>
          <a:ea typeface="標楷體"/>
          <a:cs typeface="標楷體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6DA1A-2285-4F88-A166-9CDC1A48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7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63AEF-58E1-4DF7-9A74-ECFE2823A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847" y="1828803"/>
            <a:ext cx="7886700" cy="435133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C3A12-2CB5-4F3C-A80C-26BC086FEA8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1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945AB5A-8E6F-49DD-BD81-9DAF71C4A4B5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85E86-6CA0-4DC6-9A92-AA9E555502A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1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6E7E5-0BE7-4F19-889C-DE232461EE4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63145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14C81-BE6E-4C9D-869D-B5AB15501E2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685817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5" indent="-171455" algn="l" defTabSz="685817">
        <a:lnSpc>
          <a:spcPct val="90000"/>
        </a:lnSpc>
        <a:spcBef>
          <a:spcPts val="750"/>
        </a:spcBef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63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71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80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89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97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906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815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723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9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17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26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35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43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52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60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68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03CD2C96-793E-41CF-AEBD-DC2AA441EB0D}"/>
              </a:ext>
            </a:extLst>
          </p:cNvPr>
          <p:cNvSpPr>
            <a:spLocks noGrp="1"/>
          </p:cNvSpPr>
          <p:nvPr/>
        </p:nvSpPr>
        <p:spPr>
          <a:xfrm>
            <a:off x="323528" y="1196752"/>
            <a:ext cx="2952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一、交通事故分析</a:t>
            </a:r>
            <a:endParaRPr sz="24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B1E21B-8161-45CF-9628-CCBA69AD690B}"/>
              </a:ext>
            </a:extLst>
          </p:cNvPr>
          <p:cNvSpPr>
            <a:spLocks noGrp="1"/>
          </p:cNvSpPr>
          <p:nvPr/>
        </p:nvSpPr>
        <p:spPr>
          <a:xfrm>
            <a:off x="288900" y="1923616"/>
            <a:ext cx="4229272" cy="3509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342900" indent="-342900">
              <a:buFont typeface="Wingdings"/>
              <a:buChar char="u"/>
              <a:defRPr sz="1350" b="1">
                <a:solidFill>
                  <a:srgbClr val="0000FF"/>
                </a:solidFill>
              </a:defRPr>
            </a:pPr>
            <a:r>
              <a:rPr sz="13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{{PERIOD}}</a:t>
            </a:r>
          </a:p>
          <a:p>
            <a:pPr marL="342900" indent="-342900">
              <a:buFont typeface="Wingdings"/>
              <a:buChar char="u"/>
              <a:defRPr sz="1350" b="1">
                <a:solidFill>
                  <a:srgbClr val="0000FF"/>
                </a:solidFill>
              </a:defRPr>
            </a:pPr>
            <a:r>
              <a:rPr sz="13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A1+A2：{{TOTAL}}件（{{TD}}）</a:t>
            </a:r>
          </a:p>
          <a:p>
            <a:pPr marL="342900" indent="-342900">
              <a:buFont typeface="Wingdings"/>
              <a:buChar char="u"/>
              <a:defRPr sz="1350" b="1">
                <a:solidFill>
                  <a:srgbClr val="0000FF"/>
                </a:solidFill>
              </a:defRPr>
            </a:pPr>
            <a:r>
              <a:rPr sz="13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A1：{{A1}}件（{{A1D}}）</a:t>
            </a:r>
            <a:endParaRPr sz="1950" b="1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defRPr sz="1350" b="1">
                <a:solidFill>
                  <a:srgbClr val="0000FF"/>
                </a:solidFill>
              </a:defRPr>
            </a:pPr>
            <a:r>
              <a:rPr sz="1350" b="1">
                <a:solidFill>
                  <a:srgbClr val="0000FF"/>
                </a:solidFill>
              </a:rPr>
              <a:t>A2：{{A2}}件（{{A2D}}）</a:t>
            </a:r>
            <a:endParaRPr sz="195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endParaRPr sz="195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342900" indent="-342900">
              <a:buFont typeface="Wingdings"/>
              <a:buChar char="u"/>
              <a:defRPr sz="1350" b="1">
                <a:solidFill>
                  <a:srgbClr val="0000FF"/>
                </a:solidFill>
              </a:defRPr>
            </a:pPr>
            <a:r>
              <a:rPr sz="1350" b="1">
                <a:solidFill>
                  <a:srgbClr val="0000FF"/>
                </a:solidFill>
              </a:rPr>
              <a:t>{{SUMMARY}}</a:t>
            </a:r>
            <a:endParaRPr sz="1950" b="1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B9A908-008B-F137-83DD-F0E594970818}"/>
              </a:ext>
            </a:extLst>
          </p:cNvPr>
          <p:cNvSpPr>
            <a:spLocks noGrp="1"/>
          </p:cNvSpPr>
          <p:nvPr/>
        </p:nvSpPr>
        <p:spPr>
          <a:xfrm>
            <a:off x="3837890" y="5748337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" name="資料庫圖表 1"/>
          <p:cNvGraphicFramePr/>
          <p:nvPr>
            <p:extLst>
              <p:ext uri="{D42A27DB-BD31-4B8C-83A1-F6EECF244321}">
                <p14:modId xmlns:p14="http://schemas.microsoft.com/office/powerpoint/2010/main" val="2719576783"/>
              </p:ext>
            </p:extLst>
          </p:nvPr>
        </p:nvGraphicFramePr>
        <p:xfrm>
          <a:off x="17892" y="233271"/>
          <a:ext cx="8946596" cy="414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程式圖表預留區-1-圖表 26">
            <a:extLst>
              <a:ext uri="{FF2B5EF4-FFF2-40B4-BE49-F238E27FC236}">
                <a16:creationId xmlns:a16="http://schemas.microsoft.com/office/drawing/2014/main" id="{10BAAA0A-091C-4B7F-88D7-3BC1D330A3E3}"/>
              </a:ext>
            </a:extLst>
          </p:cNvPr>
          <p:cNvSpPr>
            <a:spLocks noGrp="1"/>
          </p:cNvSpPr>
          <p:nvPr/>
        </p:nvSpPr>
        <p:spPr>
          <a:xfrm>
            <a:off x="4730532" y="1427584"/>
            <a:ext cx="4089940" cy="3205639"/>
          </a:xfrm>
          <a:prstGeom prst="rect">
            <a:avLst/>
          </a:prstGeom>
          <a:solidFill>
            <a:srgbClr val="FFFFFF"/>
          </a:solidFill>
          <a:ln w="14288">
            <a:solidFill>
              <a:srgbClr val="8FB4D8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3178B8"/>
                </a:solidFill>
              </a:defRPr>
            </a:pPr>
            <a:r>
              <a:rPr sz="1500" b="1">
                <a:solidFill>
                  <a:srgbClr val="3178B8"/>
                </a:solidFill>
              </a:rPr>
              <a:t>{{OVERVIEW_CHART}}</a:t>
            </a:r>
          </a:p>
        </p:txBody>
      </p:sp>
    </p:spTree>
    <p:extLst>
      <p:ext uri="{BB962C8B-B14F-4D97-AF65-F5344CB8AC3E}">
        <p14:creationId xmlns:p14="http://schemas.microsoft.com/office/powerpoint/2010/main" val="3378363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4291B09-17FC-4A6E-9F7B-5F7136F0D1A1}"/>
              </a:ext>
            </a:extLst>
          </p:cNvPr>
          <p:cNvSpPr>
            <a:spLocks noGrp="1"/>
          </p:cNvSpPr>
          <p:nvPr/>
        </p:nvSpPr>
        <p:spPr>
          <a:xfrm>
            <a:off x="345256" y="1355631"/>
            <a:ext cx="3255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二、易肇事路段分析</a:t>
            </a:r>
          </a:p>
        </p:txBody>
      </p:sp>
      <p:graphicFrame>
        <p:nvGraphicFramePr>
          <p:cNvPr id="52" name="表格 7"/>
          <p:cNvGraphicFramePr/>
          <p:nvPr/>
        </p:nvGraphicFramePr>
        <p:xfrm>
          <a:off x="4827488" y="4050676"/>
          <a:ext cx="4163689" cy="64890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08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56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12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2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{{R1}}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{{R2}}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{{R3}}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{{R4}}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{{R5}}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{{R6}}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{{R7}}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{{R8}}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{{R9}}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{{R10}}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{{N1}}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{{N2}}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{{N3}}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{{N4}}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{{N5}}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{{N6}}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{{N7}}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{{N8}}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{{N9}}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solidFill>
                            <a:schemeClr val="tx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{{N10}}</a:t>
                      </a:r>
                    </a:p>
                  </a:txBody>
                  <a:tcPr marL="6239" marR="6239" marT="6239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6239" marR="6239" marT="6239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2111255C-366C-49A0-A7ED-8A17BFE5EB87}"/>
              </a:ext>
            </a:extLst>
          </p:cNvPr>
          <p:cNvSpPr>
            <a:spLocks noGrp="1"/>
          </p:cNvSpPr>
          <p:nvPr/>
        </p:nvSpPr>
        <p:spPr>
          <a:xfrm>
            <a:off x="4812796" y="4876631"/>
            <a:ext cx="4193075" cy="94869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57168" indent="-257168">
              <a:lnSpc>
                <a:spcPts val="2250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路段：{{R1}} {{N1}}件；{{R2}} {{N2}}件；{{R3}} {{N3}}件。共{{RCOUNT}}處。</a:t>
            </a:r>
            <a:endParaRPr sz="1500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1A85D8AE-B338-B83C-9289-4DB04C90CDF4}"/>
              </a:ext>
            </a:extLst>
          </p:cNvPr>
          <p:cNvSpPr>
            <a:spLocks noGrp="1"/>
          </p:cNvSpPr>
          <p:nvPr/>
        </p:nvSpPr>
        <p:spPr>
          <a:xfrm>
            <a:off x="4010823" y="5770582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程式圖表預留區-2-圖表 19">
            <a:extLst>
              <a:ext uri="{FF2B5EF4-FFF2-40B4-BE49-F238E27FC236}">
                <a16:creationId xmlns:a16="http://schemas.microsoft.com/office/drawing/2014/main" id="{5A2F442A-149E-4576-ABE4-1A3501E88174}"/>
              </a:ext>
            </a:extLst>
          </p:cNvPr>
          <p:cNvSpPr>
            <a:spLocks noGrp="1"/>
          </p:cNvSpPr>
          <p:nvPr/>
        </p:nvSpPr>
        <p:spPr>
          <a:xfrm>
            <a:off x="4875268" y="1644648"/>
            <a:ext cx="4068128" cy="2206562"/>
          </a:xfrm>
          <a:prstGeom prst="rect">
            <a:avLst/>
          </a:prstGeom>
          <a:solidFill>
            <a:srgbClr val="FFFFFF"/>
          </a:solidFill>
          <a:ln w="14288">
            <a:solidFill>
              <a:srgbClr val="8FB4D8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3178B8"/>
                </a:solidFill>
              </a:defRPr>
            </a:pPr>
            <a:r>
              <a:rPr sz="1500" b="1">
                <a:solidFill>
                  <a:srgbClr val="3178B8"/>
                </a:solidFill>
              </a:rPr>
              <a:t>{{ROAD_CHART}}</a:t>
            </a:r>
          </a:p>
        </p:txBody>
      </p:sp>
      <p:sp>
        <p:nvSpPr>
          <p:cNvPr id="49" name="人工地圖預留區-2">
            <a:extLst>
              <a:ext uri="{FF2B5EF4-FFF2-40B4-BE49-F238E27FC236}">
                <a16:creationId xmlns:a16="http://schemas.microsoft.com/office/drawing/2014/main" id="{0EED5CD4-E993-4604-B132-1F1855852489}"/>
              </a:ext>
            </a:extLst>
          </p:cNvPr>
          <p:cNvSpPr>
            <a:spLocks noGrp="1"/>
          </p:cNvSpPr>
          <p:nvPr/>
        </p:nvSpPr>
        <p:spPr>
          <a:xfrm>
            <a:off x="127730" y="2128076"/>
            <a:ext cx="4585621" cy="3711226"/>
          </a:xfrm>
          <a:prstGeom prst="rect">
            <a:avLst/>
          </a:prstGeom>
          <a:solidFill>
            <a:srgbClr val="F4F6F8"/>
          </a:solidFill>
          <a:ln w="14288">
            <a:solidFill>
              <a:srgbClr val="AAB4C0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易肇事路段地圖</a:t>
            </a:r>
          </a:p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（請由人工置入地圖圖片）</a:t>
            </a:r>
          </a:p>
        </p:txBody>
      </p:sp>
    </p:spTree>
    <p:extLst>
      <p:ext uri="{BB962C8B-B14F-4D97-AF65-F5344CB8AC3E}">
        <p14:creationId xmlns:p14="http://schemas.microsoft.com/office/powerpoint/2010/main" val="27470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4291B09-17FC-4A6E-9F7B-5F7136F0D1A1}"/>
              </a:ext>
            </a:extLst>
          </p:cNvPr>
          <p:cNvSpPr>
            <a:spLocks noGrp="1"/>
          </p:cNvSpPr>
          <p:nvPr/>
        </p:nvSpPr>
        <p:spPr>
          <a:xfrm>
            <a:off x="384487" y="1262527"/>
            <a:ext cx="32581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三、易肇事路口分析</a:t>
            </a:r>
          </a:p>
        </p:txBody>
      </p:sp>
      <p:graphicFrame>
        <p:nvGraphicFramePr>
          <p:cNvPr id="53" name="圖表 20"/>
          <p:cNvGraphicFramePr/>
          <p:nvPr/>
        </p:nvGraphicFramePr>
        <p:xfrm>
          <a:off x="4676420" y="1515275"/>
          <a:ext cx="4329738" cy="2236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4" name="表格 23"/>
          <p:cNvGraphicFramePr/>
          <p:nvPr/>
        </p:nvGraphicFramePr>
        <p:xfrm>
          <a:off x="4637938" y="3805484"/>
          <a:ext cx="4401288" cy="78669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7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47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{{I1}}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{{I2}}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{{I3}}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{{I4}}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{{I5}}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{{I6}}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{{I7}}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{{I8}}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{{I9}}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{{I10}}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i="0" u="none">
                          <a:latin typeface="Carlito"/>
                          <a:ea typeface="Carlito"/>
                          <a:cs typeface="Carlito"/>
                        </a:rPr>
                        <a:t>{{IN1}}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u="none">
                          <a:latin typeface="微軟正黑體"/>
                          <a:ea typeface="微軟正黑體"/>
                          <a:cs typeface="微軟正黑體"/>
                        </a:rPr>
                        <a:t>{{IN2}}</a:t>
                      </a:r>
                      <a:endParaRPr sz="800" b="1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{{IN3}}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i="0" u="none">
                          <a:latin typeface="Carlito"/>
                          <a:ea typeface="Carlito"/>
                          <a:cs typeface="Carlito"/>
                        </a:rPr>
                        <a:t>{{IN4}}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u="none">
                          <a:latin typeface="微軟正黑體"/>
                          <a:ea typeface="微軟正黑體"/>
                          <a:cs typeface="微軟正黑體"/>
                        </a:rPr>
                        <a:t>{{IN5}}</a:t>
                      </a:r>
                      <a:endParaRPr sz="700" b="1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u="none">
                          <a:latin typeface="微軟正黑體"/>
                          <a:ea typeface="微軟正黑體"/>
                          <a:cs typeface="微軟正黑體"/>
                        </a:rPr>
                        <a:t>{{IN6}}</a:t>
                      </a:r>
                      <a:endParaRPr sz="700" b="1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{{IN7}}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i="0" u="none">
                          <a:latin typeface="Carlito"/>
                          <a:ea typeface="Carlito"/>
                          <a:cs typeface="Carlito"/>
                        </a:rPr>
                        <a:t>{{IN8}}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i="0" u="none">
                          <a:latin typeface="Carlito"/>
                          <a:ea typeface="Carlito"/>
                          <a:cs typeface="Carlito"/>
                        </a:rPr>
                        <a:t>{{IN9}}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i="0" u="none">
                          <a:latin typeface="Carlito"/>
                          <a:ea typeface="Carlito"/>
                          <a:cs typeface="Carlito"/>
                        </a:rPr>
                        <a:t>{{IN10}}</a:t>
                      </a: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4987E629-4E4E-45C4-9701-172BA5C707F4}"/>
              </a:ext>
            </a:extLst>
          </p:cNvPr>
          <p:cNvSpPr>
            <a:spLocks noGrp="1"/>
          </p:cNvSpPr>
          <p:nvPr/>
        </p:nvSpPr>
        <p:spPr>
          <a:xfrm>
            <a:off x="4637938" y="4670615"/>
            <a:ext cx="4436578" cy="947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68" indent="-257168">
              <a:lnSpc>
                <a:spcPts val="2250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路口：{{I1}} {{IN1}}件；{{I2}} {{IN2}}件；{{I3}} {{IN3}}件。</a:t>
            </a:r>
            <a:endParaRPr sz="15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89394782-10D4-D051-B6D0-75D2330A1330}"/>
              </a:ext>
            </a:extLst>
          </p:cNvPr>
          <p:cNvSpPr>
            <a:spLocks noGrp="1"/>
          </p:cNvSpPr>
          <p:nvPr/>
        </p:nvSpPr>
        <p:spPr>
          <a:xfrm>
            <a:off x="4010823" y="5770582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程式圖表預留區-3-圖表 20">
            <a:extLst>
              <a:ext uri="{FF2B5EF4-FFF2-40B4-BE49-F238E27FC236}">
                <a16:creationId xmlns:a16="http://schemas.microsoft.com/office/drawing/2014/main" id="{A685B200-10F9-47B7-9231-60712E811E3C}"/>
              </a:ext>
            </a:extLst>
          </p:cNvPr>
          <p:cNvSpPr>
            <a:spLocks noGrp="1"/>
          </p:cNvSpPr>
          <p:nvPr/>
        </p:nvSpPr>
        <p:spPr>
          <a:xfrm>
            <a:off x="4676394" y="1515237"/>
            <a:ext cx="4329779" cy="2236184"/>
          </a:xfrm>
          <a:prstGeom prst="rect">
            <a:avLst/>
          </a:prstGeom>
          <a:solidFill>
            <a:srgbClr val="FFFFFF"/>
          </a:solidFill>
          <a:ln w="14288">
            <a:solidFill>
              <a:srgbClr val="8FB4D8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3178B8"/>
                </a:solidFill>
              </a:defRPr>
            </a:pPr>
            <a:r>
              <a:rPr sz="1500" b="1">
                <a:solidFill>
                  <a:srgbClr val="3178B8"/>
                </a:solidFill>
              </a:rPr>
              <a:t>{{INTERSECTION_CHART}}</a:t>
            </a:r>
          </a:p>
        </p:txBody>
      </p:sp>
      <p:sp>
        <p:nvSpPr>
          <p:cNvPr id="51" name="人工地圖預留區-3">
            <a:extLst>
              <a:ext uri="{FF2B5EF4-FFF2-40B4-BE49-F238E27FC236}">
                <a16:creationId xmlns:a16="http://schemas.microsoft.com/office/drawing/2014/main" id="{655B5D10-16BC-4215-B61C-81F6B112CC71}"/>
              </a:ext>
            </a:extLst>
          </p:cNvPr>
          <p:cNvSpPr>
            <a:spLocks noGrp="1"/>
          </p:cNvSpPr>
          <p:nvPr/>
        </p:nvSpPr>
        <p:spPr>
          <a:xfrm>
            <a:off x="30099" y="2212943"/>
            <a:ext cx="4541901" cy="3390138"/>
          </a:xfrm>
          <a:prstGeom prst="rect">
            <a:avLst/>
          </a:prstGeom>
          <a:solidFill>
            <a:srgbClr val="F4F6F8"/>
          </a:solidFill>
          <a:ln w="14288">
            <a:solidFill>
              <a:srgbClr val="AAB4C0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易肇事路口地圖</a:t>
            </a:r>
          </a:p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（請由人工置入地圖圖片）</a:t>
            </a:r>
          </a:p>
        </p:txBody>
      </p:sp>
    </p:spTree>
    <p:extLst>
      <p:ext uri="{BB962C8B-B14F-4D97-AF65-F5344CB8AC3E}">
        <p14:creationId xmlns:p14="http://schemas.microsoft.com/office/powerpoint/2010/main" val="73534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6CF0D2D-43E5-4F08-966B-466EEB63EF8A}"/>
              </a:ext>
            </a:extLst>
          </p:cNvPr>
          <p:cNvSpPr>
            <a:spLocks noGrp="1"/>
          </p:cNvSpPr>
          <p:nvPr/>
        </p:nvSpPr>
        <p:spPr>
          <a:xfrm>
            <a:off x="5919787" y="1426325"/>
            <a:ext cx="2252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事故時段分析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45DDBF-6E44-46D7-97CE-4260ACE8CA7D}"/>
              </a:ext>
            </a:extLst>
          </p:cNvPr>
          <p:cNvSpPr>
            <a:spLocks noGrp="1"/>
          </p:cNvSpPr>
          <p:nvPr/>
        </p:nvSpPr>
        <p:spPr>
          <a:xfrm>
            <a:off x="164448" y="5108662"/>
            <a:ext cx="4453594" cy="841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68" indent="-257168">
              <a:lnSpc>
                <a:spcPts val="1950"/>
              </a:lnSpc>
              <a:buFont typeface="Wingdings"/>
              <a:buChar char="p"/>
            </a:pPr>
            <a:r>
              <a:rPr sz="1500" b="1" dirty="0" err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肇因</a:t>
            </a:r>
            <a:r>
              <a:rPr sz="1500" b="1" dirty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：{{C1}} {{CN1}}</a:t>
            </a:r>
            <a:r>
              <a:rPr sz="1500" b="1" dirty="0" err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件</a:t>
            </a:r>
            <a:r>
              <a:rPr sz="1500" b="1" dirty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（{{CP1}}）；{{C2}} {{CN2}}</a:t>
            </a:r>
            <a:r>
              <a:rPr sz="1500" b="1" dirty="0" err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件</a:t>
            </a:r>
            <a:r>
              <a:rPr sz="1500" b="1" dirty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（{{CP2}}）；{{C3}} {{CN3}}</a:t>
            </a:r>
            <a:r>
              <a:rPr sz="1500" b="1" dirty="0" err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件</a:t>
            </a:r>
            <a:r>
              <a:rPr sz="1500" b="1" dirty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（{{CP3}}）。</a:t>
            </a:r>
            <a:endParaRPr sz="1500" b="1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730A1C6-91BE-49D8-B54A-AFB26721A7FC}"/>
              </a:ext>
            </a:extLst>
          </p:cNvPr>
          <p:cNvSpPr>
            <a:spLocks noGrp="1"/>
          </p:cNvSpPr>
          <p:nvPr/>
        </p:nvSpPr>
        <p:spPr>
          <a:xfrm>
            <a:off x="146139" y="1063710"/>
            <a:ext cx="3168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四、事故肇因分析</a:t>
            </a:r>
          </a:p>
        </p:txBody>
      </p:sp>
      <p:graphicFrame>
        <p:nvGraphicFramePr>
          <p:cNvPr id="40" name="表格 26"/>
          <p:cNvGraphicFramePr/>
          <p:nvPr/>
        </p:nvGraphicFramePr>
        <p:xfrm>
          <a:off x="4948237" y="3909714"/>
          <a:ext cx="4170764" cy="734082"/>
        </p:xfrm>
        <a:graphic>
          <a:graphicData uri="http://schemas.openxmlformats.org/drawingml/2006/table">
            <a:tbl>
              <a:tblPr/>
              <a:tblGrid>
                <a:gridCol w="320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8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2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時間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{{T3}}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{{T4}}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{{T5}}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{{T6}}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{{T7}}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{{T8}}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{{T9}}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{{T10}}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{{T11}}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{{T12}}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件數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{{TN3}}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{{TN4}}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{{TN5}}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{{TN6}}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{{TN7}}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{{TN8}}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{{TN9}}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{{TN10}}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{{TN11}}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{{TN12}}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5432CB58-082F-4EC3-B361-DA14FA937D0E}"/>
              </a:ext>
            </a:extLst>
          </p:cNvPr>
          <p:cNvSpPr>
            <a:spLocks noGrp="1"/>
          </p:cNvSpPr>
          <p:nvPr/>
        </p:nvSpPr>
        <p:spPr>
          <a:xfrm>
            <a:off x="4810923" y="5108662"/>
            <a:ext cx="4239281" cy="1098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68" indent="-257168">
              <a:lnSpc>
                <a:spcPts val="1950"/>
              </a:lnSpc>
              <a:buFont typeface="Wingdings"/>
              <a:buChar char="p"/>
            </a:pPr>
            <a:r>
              <a:rPr sz="1500" b="1" dirty="0" err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時段</a:t>
            </a:r>
            <a:r>
              <a:rPr sz="1500" b="1" dirty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：{{T1}} {{TN1}}</a:t>
            </a:r>
            <a:r>
              <a:rPr sz="1500" b="1" dirty="0" err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件</a:t>
            </a:r>
            <a:r>
              <a:rPr sz="1500" b="1" dirty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（{{TP1}}）；{{T2}} {{TN2}}</a:t>
            </a:r>
            <a:r>
              <a:rPr sz="1500" b="1" dirty="0" err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件</a:t>
            </a:r>
            <a:r>
              <a:rPr sz="1500" b="1" dirty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（{{TP2}}）；{{T3}} {{TN3}}</a:t>
            </a:r>
            <a:r>
              <a:rPr sz="1500" b="1" dirty="0" err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件</a:t>
            </a:r>
            <a:r>
              <a:rPr sz="1500" b="1" dirty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（{{TP3}}）。</a:t>
            </a:r>
            <a:endParaRPr sz="1500" b="1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43" name="表格 29"/>
          <p:cNvGraphicFramePr/>
          <p:nvPr/>
        </p:nvGraphicFramePr>
        <p:xfrm>
          <a:off x="146139" y="4047677"/>
          <a:ext cx="4547184" cy="7749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48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82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2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2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3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4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5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6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7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8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9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10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11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12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肇因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u="none">
                          <a:latin typeface="微軟正黑體"/>
                          <a:ea typeface="微軟正黑體"/>
                          <a:cs typeface="微軟正黑體"/>
                        </a:rPr>
                        <a:t>{{C1}}</a:t>
                      </a:r>
                      <a:endParaRPr sz="6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u="none">
                          <a:latin typeface="微軟正黑體"/>
                          <a:ea typeface="微軟正黑體"/>
                          <a:cs typeface="微軟正黑體"/>
                        </a:rPr>
                        <a:t>{{C2}}</a:t>
                      </a:r>
                      <a:endParaRPr sz="6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{{C3}}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{{C4}}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{{C5}}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{{C6}}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{{C7}}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{{C8}}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{{C9}}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{{C10}}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{{C11}}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{{C12}}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件數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{{CN1}}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{{CN2}}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{{CN3}}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{{CN4}}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{{CN5}}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{{CN6}}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{{CN7}}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{{CN8}}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{{CN9}}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{{CN10}}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{{CN11}}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{{CN12}}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1D15B9FE-58B2-7573-2E0C-D6A486602E62}"/>
              </a:ext>
            </a:extLst>
          </p:cNvPr>
          <p:cNvSpPr>
            <a:spLocks noGrp="1"/>
          </p:cNvSpPr>
          <p:nvPr/>
        </p:nvSpPr>
        <p:spPr>
          <a:xfrm>
            <a:off x="4010823" y="5770582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程式圖表預留區-4-圖表 28">
            <a:extLst>
              <a:ext uri="{FF2B5EF4-FFF2-40B4-BE49-F238E27FC236}">
                <a16:creationId xmlns:a16="http://schemas.microsoft.com/office/drawing/2014/main" id="{E6CCDC76-5066-4825-A9BE-E20240EEBADF}"/>
              </a:ext>
            </a:extLst>
          </p:cNvPr>
          <p:cNvSpPr>
            <a:spLocks noGrp="1"/>
          </p:cNvSpPr>
          <p:nvPr/>
        </p:nvSpPr>
        <p:spPr>
          <a:xfrm>
            <a:off x="439458" y="1797719"/>
            <a:ext cx="4253865" cy="2087023"/>
          </a:xfrm>
          <a:prstGeom prst="rect">
            <a:avLst/>
          </a:prstGeom>
          <a:solidFill>
            <a:srgbClr val="FFFFFF"/>
          </a:solidFill>
          <a:ln w="14288">
            <a:solidFill>
              <a:srgbClr val="8FB4D8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3178B8"/>
                </a:solidFill>
              </a:defRPr>
            </a:pPr>
            <a:r>
              <a:rPr sz="1500" b="1">
                <a:solidFill>
                  <a:srgbClr val="3178B8"/>
                </a:solidFill>
              </a:rPr>
              <a:t>{{CAUSE_CHART}}</a:t>
            </a:r>
          </a:p>
        </p:txBody>
      </p:sp>
      <p:sp>
        <p:nvSpPr>
          <p:cNvPr id="35" name="程式圖表預留區-4-圖表 25">
            <a:extLst>
              <a:ext uri="{FF2B5EF4-FFF2-40B4-BE49-F238E27FC236}">
                <a16:creationId xmlns:a16="http://schemas.microsoft.com/office/drawing/2014/main" id="{ABC577DD-2481-4DFD-BCF4-524C06847DC2}"/>
              </a:ext>
            </a:extLst>
          </p:cNvPr>
          <p:cNvSpPr>
            <a:spLocks noGrp="1"/>
          </p:cNvSpPr>
          <p:nvPr/>
        </p:nvSpPr>
        <p:spPr>
          <a:xfrm>
            <a:off x="5089185" y="1879682"/>
            <a:ext cx="3888867" cy="1923098"/>
          </a:xfrm>
          <a:prstGeom prst="rect">
            <a:avLst/>
          </a:prstGeom>
          <a:solidFill>
            <a:srgbClr val="FFFFFF"/>
          </a:solidFill>
          <a:ln w="14288">
            <a:solidFill>
              <a:srgbClr val="8FB4D8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3178B8"/>
                </a:solidFill>
              </a:defRPr>
            </a:pPr>
            <a:r>
              <a:rPr sz="1500" b="1">
                <a:solidFill>
                  <a:srgbClr val="3178B8"/>
                </a:solidFill>
              </a:rPr>
              <a:t>{{TIME_CHART}}</a:t>
            </a:r>
          </a:p>
        </p:txBody>
      </p:sp>
    </p:spTree>
    <p:extLst>
      <p:ext uri="{BB962C8B-B14F-4D97-AF65-F5344CB8AC3E}">
        <p14:creationId xmlns:p14="http://schemas.microsoft.com/office/powerpoint/2010/main" val="16580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6CF0D2D-43E5-4F08-966B-466EEB63EF8A}"/>
              </a:ext>
            </a:extLst>
          </p:cNvPr>
          <p:cNvSpPr>
            <a:spLocks noGrp="1"/>
          </p:cNvSpPr>
          <p:nvPr/>
        </p:nvSpPr>
        <p:spPr>
          <a:xfrm>
            <a:off x="259938" y="1012802"/>
            <a:ext cx="3557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五、事故年齡分析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36" name="表格 18"/>
          <p:cNvGraphicFramePr/>
          <p:nvPr/>
        </p:nvGraphicFramePr>
        <p:xfrm>
          <a:off x="194667" y="4561265"/>
          <a:ext cx="4114800" cy="31432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年齡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{{AAG1}}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{{AAG2}}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{{AAG3}}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{{AAG4}}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{{AAG5}}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{{AAG6}}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{{AAG7}}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{{AN1}}</a:t>
                      </a:r>
                      <a:endParaRPr sz="900" b="0" i="0" u="none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{{AN2}}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{{AN3}}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{{AN4}}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{{AN5}}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{{AN6}}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{{AN7}}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85604CB6-F0CC-4E7E-91D9-234D89B2C993}"/>
              </a:ext>
            </a:extLst>
          </p:cNvPr>
          <p:cNvSpPr>
            <a:spLocks noGrp="1"/>
          </p:cNvSpPr>
          <p:nvPr/>
        </p:nvSpPr>
        <p:spPr>
          <a:xfrm>
            <a:off x="-20963" y="4911434"/>
            <a:ext cx="4889429" cy="862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68" indent="-257168">
              <a:lnSpc>
                <a:spcPts val="2025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年齡：{{AAG1}} {{AN1}}件（{{AP1}}）；{{AAG2}} {{AN2}}件（{{AP2}}）；{{AAG3}} {{AN3}}件（{{AP3}}）。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66A280E-5646-4DC3-8891-75462EF5E7C7}"/>
              </a:ext>
            </a:extLst>
          </p:cNvPr>
          <p:cNvSpPr>
            <a:spLocks noGrp="1"/>
          </p:cNvSpPr>
          <p:nvPr/>
        </p:nvSpPr>
        <p:spPr>
          <a:xfrm>
            <a:off x="5436331" y="1074357"/>
            <a:ext cx="3057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六、事故車種分析</a:t>
            </a:r>
          </a:p>
        </p:txBody>
      </p:sp>
      <p:graphicFrame>
        <p:nvGraphicFramePr>
          <p:cNvPr id="40" name="表格 25"/>
          <p:cNvGraphicFramePr/>
          <p:nvPr/>
        </p:nvGraphicFramePr>
        <p:xfrm>
          <a:off x="4907757" y="4561265"/>
          <a:ext cx="4114800" cy="314326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車種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{{V3}}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{{V4}}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{{V5}}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{{V6}}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{{V7}}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件數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{{VN3}}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{{VN4}}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{{VN5}}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{{VN6}}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{{VN7}}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E7A80EAD-6708-4A9A-9C46-6558C12FA3B6}"/>
              </a:ext>
            </a:extLst>
          </p:cNvPr>
          <p:cNvSpPr>
            <a:spLocks noGrp="1"/>
          </p:cNvSpPr>
          <p:nvPr/>
        </p:nvSpPr>
        <p:spPr>
          <a:xfrm>
            <a:off x="4738360" y="4914954"/>
            <a:ext cx="4453594" cy="841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68" indent="-257168">
              <a:lnSpc>
                <a:spcPts val="1950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車種：{{V1}} {{VN1}}件（{{VP1}}）；{{V2}} {{VN2}}件（{{VP2}}）；{{V3}} {{VN3}}件（{{VP3}}）。</a:t>
            </a:r>
          </a:p>
        </p:txBody>
      </p:sp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5F3CB0EB-E707-F259-07F1-9A571CF194ED}"/>
              </a:ext>
            </a:extLst>
          </p:cNvPr>
          <p:cNvSpPr>
            <a:spLocks noGrp="1"/>
          </p:cNvSpPr>
          <p:nvPr/>
        </p:nvSpPr>
        <p:spPr>
          <a:xfrm>
            <a:off x="4010823" y="5770582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程式圖表預留區-5-圖表 17">
            <a:extLst>
              <a:ext uri="{FF2B5EF4-FFF2-40B4-BE49-F238E27FC236}">
                <a16:creationId xmlns:a16="http://schemas.microsoft.com/office/drawing/2014/main" id="{7B71CC94-9628-4481-B101-EBE532C184E4}"/>
              </a:ext>
            </a:extLst>
          </p:cNvPr>
          <p:cNvSpPr>
            <a:spLocks noGrp="1"/>
          </p:cNvSpPr>
          <p:nvPr/>
        </p:nvSpPr>
        <p:spPr>
          <a:xfrm>
            <a:off x="425263" y="1823490"/>
            <a:ext cx="3996976" cy="2450306"/>
          </a:xfrm>
          <a:prstGeom prst="rect">
            <a:avLst/>
          </a:prstGeom>
          <a:solidFill>
            <a:srgbClr val="FFFFFF"/>
          </a:solidFill>
          <a:ln w="14288">
            <a:solidFill>
              <a:srgbClr val="8FB4D8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3178B8"/>
                </a:solidFill>
              </a:defRPr>
            </a:pPr>
            <a:r>
              <a:rPr sz="1500" b="1">
                <a:solidFill>
                  <a:srgbClr val="3178B8"/>
                </a:solidFill>
              </a:rPr>
              <a:t>{{AGE_CHART}}</a:t>
            </a:r>
          </a:p>
        </p:txBody>
      </p:sp>
      <p:sp>
        <p:nvSpPr>
          <p:cNvPr id="34" name="程式圖表預留區-5-圖表 24">
            <a:extLst>
              <a:ext uri="{FF2B5EF4-FFF2-40B4-BE49-F238E27FC236}">
                <a16:creationId xmlns:a16="http://schemas.microsoft.com/office/drawing/2014/main" id="{AA92CF59-E0FA-4851-A6E3-C2620CACB6CF}"/>
              </a:ext>
            </a:extLst>
          </p:cNvPr>
          <p:cNvSpPr>
            <a:spLocks noGrp="1"/>
          </p:cNvSpPr>
          <p:nvPr/>
        </p:nvSpPr>
        <p:spPr>
          <a:xfrm>
            <a:off x="4954766" y="1863161"/>
            <a:ext cx="3837051" cy="2370963"/>
          </a:xfrm>
          <a:prstGeom prst="rect">
            <a:avLst/>
          </a:prstGeom>
          <a:solidFill>
            <a:srgbClr val="FFFFFF"/>
          </a:solidFill>
          <a:ln w="14288">
            <a:solidFill>
              <a:srgbClr val="8FB4D8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3178B8"/>
                </a:solidFill>
              </a:defRPr>
            </a:pPr>
            <a:r>
              <a:rPr sz="1500" b="1">
                <a:solidFill>
                  <a:srgbClr val="3178B8"/>
                </a:solidFill>
              </a:rPr>
              <a:t>{{VEHICLE_CHART}}</a:t>
            </a:r>
          </a:p>
        </p:txBody>
      </p:sp>
    </p:spTree>
    <p:extLst>
      <p:ext uri="{BB962C8B-B14F-4D97-AF65-F5344CB8AC3E}">
        <p14:creationId xmlns:p14="http://schemas.microsoft.com/office/powerpoint/2010/main" val="166866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B93F83-A2CE-4098-8C14-DBA12D978688}"/>
              </a:ext>
            </a:extLst>
          </p:cNvPr>
          <p:cNvSpPr>
            <a:spLocks noGrp="1"/>
          </p:cNvSpPr>
          <p:nvPr/>
        </p:nvSpPr>
        <p:spPr>
          <a:xfrm>
            <a:off x="524926" y="985250"/>
            <a:ext cx="3485472" cy="461665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七、A1事故案件明細</a:t>
            </a:r>
          </a:p>
        </p:txBody>
      </p:sp>
      <p:graphicFrame>
        <p:nvGraphicFramePr>
          <p:cNvPr id="42" name="表格 12"/>
          <p:cNvGraphicFramePr/>
          <p:nvPr/>
        </p:nvGraphicFramePr>
        <p:xfrm>
          <a:off x="4818771" y="1443645"/>
          <a:ext cx="4185806" cy="5081698"/>
        </p:xfrm>
        <a:graphic>
          <a:graphicData uri="http://schemas.openxmlformats.org/drawingml/2006/table">
            <a:tbl>
              <a:tblPr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tableStyleId>{BC89EF96-8CEA-46FF-86C4-4CE0E7609802}</a:tableStyleId>
              </a:tblPr>
              <a:tblGrid>
                <a:gridCol w="275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2393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u="none">
                          <a:latin typeface="標楷體"/>
                          <a:ea typeface="標楷體"/>
                          <a:cs typeface="標楷體"/>
                        </a:rPr>
                        <a:t>板橋分局轄內{{YEAR}}年度A1事故明細</a:t>
                      </a:r>
                      <a:endParaRPr sz="1300" b="1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編號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時間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地點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肇因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車種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死亡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備註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1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{{A1T}}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{{A1L}}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{{A1C}}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{{A1V}}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{{A1F}}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{{A1N}}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2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{{A2T}}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{{A2L}}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{{A2C}}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{{A2V}}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{{A2F}}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{{A2N}}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3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{{A3T}}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{{A3L}}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{{A3C}}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{{A3V}}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{{A3F}}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{{A3N}}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4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{{A4T}}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{{A4L}}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{{A4C}}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{{A4V}}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{{A4F}}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{{A4N}}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5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{{A5T}}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{{A5L}}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{{A5C}}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{{A5V}}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{{A5F}}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{{A5N}}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6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chemeClr val="tx1"/>
                          </a:solidFill>
                          <a:latin typeface="標楷體"/>
                          <a:ea typeface="標楷體"/>
                          <a:cs typeface="標楷體"/>
                        </a:rPr>
                        <a:t>{{A6T}}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{{A6L}}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{{A6C}}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{{A6V}}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{{A6F}}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{{A6N}}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5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7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chemeClr val="tx1"/>
                          </a:solidFill>
                          <a:latin typeface="標楷體"/>
                          <a:ea typeface="標楷體"/>
                          <a:cs typeface="標楷體"/>
                        </a:rPr>
                        <a:t>{{A7T}}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chemeClr val="tx1"/>
                          </a:solidFill>
                          <a:latin typeface="標楷體"/>
                          <a:ea typeface="標楷體"/>
                          <a:cs typeface="標楷體"/>
                        </a:rPr>
                        <a:t>{{A7L}}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{{A7C}}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{{A7V}}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{{A7F}}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{{A7N}}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BD48A3-DE8B-ABC1-4F78-F6176550AB85}"/>
              </a:ext>
            </a:extLst>
          </p:cNvPr>
          <p:cNvSpPr>
            <a:spLocks noGrp="1"/>
          </p:cNvSpPr>
          <p:nvPr/>
        </p:nvSpPr>
        <p:spPr>
          <a:xfrm>
            <a:off x="3890306" y="5766014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人工地圖預留區-6">
            <a:extLst>
              <a:ext uri="{FF2B5EF4-FFF2-40B4-BE49-F238E27FC236}">
                <a16:creationId xmlns:a16="http://schemas.microsoft.com/office/drawing/2014/main" id="{68EE2669-3056-49C3-9E56-B48A75A43615}"/>
              </a:ext>
            </a:extLst>
          </p:cNvPr>
          <p:cNvSpPr>
            <a:spLocks noGrp="1"/>
          </p:cNvSpPr>
          <p:nvPr/>
        </p:nvSpPr>
        <p:spPr>
          <a:xfrm>
            <a:off x="17907" y="1819466"/>
            <a:ext cx="4656011" cy="4141756"/>
          </a:xfrm>
          <a:prstGeom prst="rect">
            <a:avLst/>
          </a:prstGeom>
          <a:solidFill>
            <a:srgbClr val="F4F6F8"/>
          </a:solidFill>
          <a:ln w="14288">
            <a:solidFill>
              <a:srgbClr val="AAB4C0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A1事故斑點圖</a:t>
            </a:r>
          </a:p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（請由人工置入地圖圖片）</a:t>
            </a:r>
          </a:p>
        </p:txBody>
      </p:sp>
    </p:spTree>
    <p:extLst>
      <p:ext uri="{BB962C8B-B14F-4D97-AF65-F5344CB8AC3E}">
        <p14:creationId xmlns:p14="http://schemas.microsoft.com/office/powerpoint/2010/main" val="3946159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表格 15"/>
          <p:cNvGraphicFramePr/>
          <p:nvPr/>
        </p:nvGraphicFramePr>
        <p:xfrm>
          <a:off x="6416699" y="2803927"/>
          <a:ext cx="875912" cy="7187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板橋所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板城路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縣民大道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22"/>
          <p:cNvGraphicFramePr/>
          <p:nvPr/>
        </p:nvGraphicFramePr>
        <p:xfrm>
          <a:off x="7801538" y="4588441"/>
          <a:ext cx="979245" cy="72361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信義所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四川路2段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廣權路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26"/>
          <p:cNvGraphicFramePr/>
          <p:nvPr/>
        </p:nvGraphicFramePr>
        <p:xfrm>
          <a:off x="5442596" y="4761505"/>
          <a:ext cx="1146705" cy="883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大觀所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大觀路1、2段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板城路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環河西路5段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" name="表格 30"/>
          <p:cNvGraphicFramePr/>
          <p:nvPr/>
        </p:nvGraphicFramePr>
        <p:xfrm>
          <a:off x="4203400" y="3112409"/>
          <a:ext cx="1125337" cy="883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沙崙所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篤行路3段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環漢路4段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21號越堤道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F04EC529-BDFA-7544-A0C8-91C081B903D5}"/>
              </a:ext>
            </a:extLst>
          </p:cNvPr>
          <p:cNvSpPr>
            <a:spLocks noGrp="1"/>
          </p:cNvSpPr>
          <p:nvPr/>
        </p:nvSpPr>
        <p:spPr>
          <a:xfrm>
            <a:off x="6509652" y="7012781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8546A86-C4A6-5F83-7134-998148F9AC08}"/>
              </a:ext>
            </a:extLst>
          </p:cNvPr>
          <p:cNvSpPr>
            <a:spLocks noGrp="1"/>
          </p:cNvSpPr>
          <p:nvPr/>
        </p:nvSpPr>
        <p:spPr>
          <a:xfrm>
            <a:off x="64743" y="2492540"/>
            <a:ext cx="36304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一、日程</a:t>
            </a:r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：{{EPERIOD}}</a:t>
            </a:r>
          </a:p>
          <a:p>
            <a:endParaRPr sz="11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>
            <a:r>
              <a:rPr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二、勤務方式</a:t>
            </a:r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：</a:t>
            </a:r>
          </a:p>
          <a:p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　（</a:t>
            </a:r>
            <a:r>
              <a:rPr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一）各所、隊於</a:t>
            </a:r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{{HOTSPOT}}</a:t>
            </a:r>
            <a:r>
              <a:rPr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編排勤務，加強取締超速</a:t>
            </a:r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。</a:t>
            </a:r>
            <a:endParaRPr sz="1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>
            <a:endParaRPr sz="11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　（二）加強取締A1事故路段：{{FOCUS1}}、{{FOCUS2}}。</a:t>
            </a:r>
          </a:p>
          <a:p>
            <a:endParaRPr sz="11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>
            <a:r>
              <a:rPr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四、獎勵規定：每執行超速取締勤務達</a:t>
            </a:r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{{AHOURS}}</a:t>
            </a:r>
            <a:r>
              <a:rPr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小時，且總取締件數不低於</a:t>
            </a:r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{{ACOUNT}}</a:t>
            </a:r>
            <a:r>
              <a:rPr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件者，核予嘉獎一次，以嘉獎</a:t>
            </a:r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{{ALIMIT}}</a:t>
            </a:r>
            <a:r>
              <a:rPr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次為上限</a:t>
            </a:r>
            <a:r>
              <a:rPr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graphicFrame>
        <p:nvGraphicFramePr>
          <p:cNvPr id="49" name="表格 12"/>
          <p:cNvGraphicFramePr/>
          <p:nvPr/>
        </p:nvGraphicFramePr>
        <p:xfrm>
          <a:off x="7917451" y="3585966"/>
          <a:ext cx="1078267" cy="75240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5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後埔所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四川路1段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4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重慶路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ACF25322-5ECE-4DC3-34DF-B23AC971410C}"/>
              </a:ext>
            </a:extLst>
          </p:cNvPr>
          <p:cNvSpPr>
            <a:spLocks noGrp="1"/>
          </p:cNvSpPr>
          <p:nvPr/>
        </p:nvSpPr>
        <p:spPr>
          <a:xfrm>
            <a:off x="3406190" y="5793077"/>
            <a:ext cx="1600200" cy="19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人工地圖預留區-7">
            <a:extLst>
              <a:ext uri="{FF2B5EF4-FFF2-40B4-BE49-F238E27FC236}">
                <a16:creationId xmlns:a16="http://schemas.microsoft.com/office/drawing/2014/main" id="{2BB9D4F5-0DBA-43BF-BC98-8B469BA13BAD}"/>
              </a:ext>
            </a:extLst>
          </p:cNvPr>
          <p:cNvSpPr>
            <a:spLocks noGrp="1"/>
          </p:cNvSpPr>
          <p:nvPr/>
        </p:nvSpPr>
        <p:spPr>
          <a:xfrm>
            <a:off x="3777710" y="1843088"/>
            <a:ext cx="5366290" cy="4086511"/>
          </a:xfrm>
          <a:prstGeom prst="rect">
            <a:avLst/>
          </a:prstGeom>
          <a:solidFill>
            <a:srgbClr val="F4F6F8"/>
          </a:solidFill>
          <a:ln w="14288">
            <a:solidFill>
              <a:srgbClr val="AAB4C0"/>
            </a:solidFill>
            <a:prstDash val="dash"/>
          </a:ln>
        </p:spPr>
        <p:txBody>
          <a:bodyPr anchor="ctr"/>
          <a:lstStyle/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交通大執法勤務地圖</a:t>
            </a:r>
          </a:p>
          <a:p>
            <a:pPr algn="ctr">
              <a:defRPr sz="1500" b="1">
                <a:solidFill>
                  <a:srgbClr val="7A8795"/>
                </a:solidFill>
              </a:defRPr>
            </a:pPr>
            <a:r>
              <a:rPr sz="1500" b="1">
                <a:solidFill>
                  <a:srgbClr val="7A8795"/>
                </a:solidFill>
              </a:rPr>
              <a:t>（請由人工置入地圖圖片）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4CF7CEC-D103-EB41-2416-B952A9B56C5F}"/>
              </a:ext>
            </a:extLst>
          </p:cNvPr>
          <p:cNvSpPr txBox="1"/>
          <p:nvPr/>
        </p:nvSpPr>
        <p:spPr>
          <a:xfrm>
            <a:off x="-888429" y="1719435"/>
            <a:ext cx="4583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 algn="ctr">
              <a:buFont typeface="Wingdings"/>
              <a:buChar char="Ø"/>
            </a:pPr>
            <a:r>
              <a:rPr lang="zh-TW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八、交通大執法專案</a:t>
            </a:r>
          </a:p>
        </p:txBody>
      </p:sp>
    </p:spTree>
    <p:extLst>
      <p:ext uri="{BB962C8B-B14F-4D97-AF65-F5344CB8AC3E}">
        <p14:creationId xmlns:p14="http://schemas.microsoft.com/office/powerpoint/2010/main" val="3728387201"/>
      </p:ext>
    </p:extLst>
  </p:cSld>
  <p:clrMapOvr>
    <a:masterClrMapping/>
  </p:clrMapOvr>
</p:sld>
</file>

<file path=ppt/theme/theme1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1945</Words>
  <Application>Microsoft Macintosh PowerPoint</Application>
  <DocSecurity>0</DocSecurity>
  <PresentationFormat>如螢幕大小 (4:3)</PresentationFormat>
  <Paragraphs>359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7</vt:i4>
      </vt:variant>
    </vt:vector>
  </HeadingPairs>
  <TitlesOfParts>
    <vt:vector size="21" baseType="lpstr">
      <vt:lpstr>微軟正黑體</vt:lpstr>
      <vt:lpstr>標楷體</vt:lpstr>
      <vt:lpstr>Carlito</vt:lpstr>
      <vt:lpstr>Arial</vt:lpstr>
      <vt:lpstr>Calibri</vt:lpstr>
      <vt:lpstr>Calibri Light</vt:lpstr>
      <vt:lpstr>Wingdings</vt:lpstr>
      <vt:lpstr>Wingdings 2</vt:lpstr>
      <vt:lpstr>1_簡報範本</vt:lpstr>
      <vt:lpstr>Office 佈景主題</vt:lpstr>
      <vt:lpstr>2_自訂設計</vt:lpstr>
      <vt:lpstr>41_簡報範本</vt:lpstr>
      <vt:lpstr>自訂設計</vt:lpstr>
      <vt:lpstr>HDOfficeLightV0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C4056 吳明珠</cp:lastModifiedBy>
  <cp:revision>2</cp:revision>
  <dcterms:created xsi:type="dcterms:W3CDTF">2026-08-10T12:04:07Z</dcterms:created>
  <dcterms:modified xsi:type="dcterms:W3CDTF">2026-08-10T12:36:52Z</dcterms:modified>
</cp:coreProperties>
</file>